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2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5260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hyperlink" Target="https://data.mendeley.com/datasets/k5pbz9795f/1"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data.mendeley.com/datasets/x356jrj2cz" TargetMode="External"/><Relationship Id="rId5" Type="http://schemas.openxmlformats.org/officeDocument/2006/relationships/hyperlink" Target="https://github.com/liuxuannan/MMFakeBench" TargetMode="External"/><Relationship Id="rId4" Type="http://schemas.openxmlformats.org/officeDocument/2006/relationships/hyperlink" Target="https://aclanthology.org/2024.findings-emnlp.959"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1371600"/>
            <a:ext cx="8229600" cy="137160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Inconsistency-Aware Multimodal</a:t>
            </a:r>
            <a:endParaRPr lang="en-US" sz="3200" dirty="0"/>
          </a:p>
          <a:p>
            <a:pPr marL="0" indent="0" algn="ctr">
              <a:buNone/>
            </a:pPr>
            <a:r>
              <a:rPr lang="en-US" sz="3200" b="1" dirty="0">
                <a:solidFill>
                  <a:srgbClr val="FFFFFF"/>
                </a:solidFill>
                <a:latin typeface="Calibri" pitchFamily="34" charset="0"/>
                <a:ea typeface="Calibri" pitchFamily="34" charset="-122"/>
                <a:cs typeface="Calibri" pitchFamily="34" charset="-120"/>
              </a:rPr>
              <a:t>Misinformation Detection Using</a:t>
            </a:r>
            <a:endParaRPr lang="en-US" sz="3200" dirty="0"/>
          </a:p>
          <a:p>
            <a:pPr marL="0" indent="0" algn="ctr">
              <a:buNone/>
            </a:pPr>
            <a:r>
              <a:rPr lang="en-US" sz="3200" b="1" dirty="0">
                <a:solidFill>
                  <a:srgbClr val="FFFFFF"/>
                </a:solidFill>
                <a:latin typeface="Calibri" pitchFamily="34" charset="0"/>
                <a:ea typeface="Calibri" pitchFamily="34" charset="-122"/>
                <a:cs typeface="Calibri" pitchFamily="34" charset="-120"/>
              </a:rPr>
              <a:t>Vision-Language Models</a:t>
            </a:r>
            <a:endParaRPr lang="en-US" sz="3200" dirty="0"/>
          </a:p>
        </p:txBody>
      </p:sp>
      <p:sp>
        <p:nvSpPr>
          <p:cNvPr id="3" name="Shape 1"/>
          <p:cNvSpPr/>
          <p:nvPr/>
        </p:nvSpPr>
        <p:spPr>
          <a:xfrm>
            <a:off x="3200400" y="3017520"/>
            <a:ext cx="2743200" cy="18288"/>
          </a:xfrm>
          <a:prstGeom prst="rect">
            <a:avLst/>
          </a:prstGeom>
          <a:solidFill>
            <a:srgbClr val="00A896"/>
          </a:solidFill>
          <a:ln/>
        </p:spPr>
      </p:sp>
      <p:sp>
        <p:nvSpPr>
          <p:cNvPr id="4" name="Text 2"/>
          <p:cNvSpPr/>
          <p:nvPr/>
        </p:nvSpPr>
        <p:spPr>
          <a:xfrm>
            <a:off x="457200" y="3291840"/>
            <a:ext cx="8229600" cy="548640"/>
          </a:xfrm>
          <a:prstGeom prst="rect">
            <a:avLst/>
          </a:prstGeom>
          <a:noFill/>
          <a:ln/>
        </p:spPr>
        <p:txBody>
          <a:bodyPr wrap="square" rtlCol="0" anchor="ctr"/>
          <a:lstStyle/>
          <a:p>
            <a:pPr marL="0" indent="0" algn="ctr">
              <a:buNone/>
            </a:pPr>
            <a:r>
              <a:rPr lang="en-US" sz="1600" dirty="0">
                <a:solidFill>
                  <a:srgbClr val="CADCFC"/>
                </a:solidFill>
                <a:latin typeface="Calibri" pitchFamily="34" charset="0"/>
                <a:ea typeface="Calibri" pitchFamily="34" charset="-122"/>
                <a:cs typeface="Calibri" pitchFamily="34" charset="-120"/>
              </a:rPr>
              <a:t>CSE499A – Senior Design</a:t>
            </a:r>
            <a:endParaRPr lang="en-US" sz="1600" dirty="0"/>
          </a:p>
          <a:p>
            <a:pPr marL="0" indent="0" algn="ctr">
              <a:buNone/>
            </a:pPr>
            <a:r>
              <a:rPr lang="en-US" sz="1600" dirty="0">
                <a:solidFill>
                  <a:srgbClr val="CADCFC"/>
                </a:solidFill>
                <a:latin typeface="Calibri" pitchFamily="34" charset="0"/>
                <a:ea typeface="Calibri" pitchFamily="34" charset="-122"/>
                <a:cs typeface="Calibri" pitchFamily="34" charset="-120"/>
              </a:rPr>
              <a:t>North South University</a:t>
            </a:r>
            <a:endParaRPr lang="en-US" sz="1600" dirty="0"/>
          </a:p>
        </p:txBody>
      </p:sp>
      <p:sp>
        <p:nvSpPr>
          <p:cNvPr id="5" name="Text 3"/>
          <p:cNvSpPr/>
          <p:nvPr/>
        </p:nvSpPr>
        <p:spPr>
          <a:xfrm>
            <a:off x="457200" y="4114800"/>
            <a:ext cx="8229600" cy="274320"/>
          </a:xfrm>
          <a:prstGeom prst="rect">
            <a:avLst/>
          </a:prstGeom>
          <a:noFill/>
          <a:ln/>
        </p:spPr>
        <p:txBody>
          <a:bodyPr wrap="square" rtlCol="0" anchor="ctr"/>
          <a:lstStyle/>
          <a:p>
            <a:pPr algn="ctr"/>
            <a:r>
              <a:rPr lang="en-US" sz="1200" b="1" dirty="0">
                <a:solidFill>
                  <a:srgbClr val="CADCFC"/>
                </a:solidFill>
                <a:latin typeface="Calibri" pitchFamily="34" charset="0"/>
                <a:ea typeface="Calibri" pitchFamily="34" charset="-122"/>
                <a:cs typeface="Calibri" pitchFamily="34" charset="-120"/>
              </a:rPr>
              <a:t>Team Members: </a:t>
            </a:r>
            <a:r>
              <a:rPr lang="en-US" sz="1200" dirty="0">
                <a:solidFill>
                  <a:srgbClr val="FFFFFF"/>
                </a:solidFill>
                <a:latin typeface="Calibri" pitchFamily="34" charset="0"/>
                <a:ea typeface="Calibri" pitchFamily="34" charset="-122"/>
                <a:cs typeface="Calibri" pitchFamily="34" charset="-120"/>
              </a:rPr>
              <a:t>[RAFIUR RAHMAN MASHRAFI, ISRAT ZAMAN SRITY, M.G.RABBI HOSSEN]</a:t>
            </a:r>
            <a:endParaRPr lang="en-US" sz="1200" dirty="0"/>
          </a:p>
        </p:txBody>
      </p:sp>
      <p:sp>
        <p:nvSpPr>
          <p:cNvPr id="6" name="Text 4"/>
          <p:cNvSpPr/>
          <p:nvPr/>
        </p:nvSpPr>
        <p:spPr>
          <a:xfrm>
            <a:off x="457200" y="4480560"/>
            <a:ext cx="8229600" cy="274320"/>
          </a:xfrm>
          <a:prstGeom prst="rect">
            <a:avLst/>
          </a:prstGeom>
          <a:noFill/>
          <a:ln/>
        </p:spPr>
        <p:txBody>
          <a:bodyPr wrap="square" rtlCol="0" anchor="ctr"/>
          <a:lstStyle/>
          <a:p>
            <a:pPr algn="ctr"/>
            <a:r>
              <a:rPr lang="en-US" sz="1200" b="1" dirty="0">
                <a:solidFill>
                  <a:srgbClr val="CADCFC"/>
                </a:solidFill>
                <a:latin typeface="Calibri" pitchFamily="34" charset="0"/>
                <a:ea typeface="Calibri" pitchFamily="34" charset="-122"/>
                <a:cs typeface="Calibri" pitchFamily="34" charset="-120"/>
              </a:rPr>
              <a:t>Supervisor: </a:t>
            </a:r>
            <a:r>
              <a:rPr lang="en-US" sz="1000" dirty="0">
                <a:solidFill>
                  <a:srgbClr val="FFFFFF"/>
                </a:solidFill>
                <a:latin typeface="Calibri" pitchFamily="34" charset="0"/>
                <a:ea typeface="Calibri" pitchFamily="34" charset="-122"/>
                <a:cs typeface="Calibri" pitchFamily="34" charset="-120"/>
              </a:rPr>
              <a:t>[</a:t>
            </a:r>
            <a:r>
              <a:rPr lang="en-US" sz="1000" b="1" cap="all" dirty="0">
                <a:solidFill>
                  <a:schemeClr val="bg1"/>
                </a:solidFill>
              </a:rPr>
              <a:t>Dr. Mohammad </a:t>
            </a:r>
            <a:r>
              <a:rPr lang="en-US" sz="1000" b="1" cap="all" dirty="0" err="1">
                <a:solidFill>
                  <a:schemeClr val="bg1"/>
                </a:solidFill>
              </a:rPr>
              <a:t>Ashrafuzzaman</a:t>
            </a:r>
            <a:r>
              <a:rPr lang="en-US" sz="1000" b="1" cap="all" dirty="0">
                <a:solidFill>
                  <a:schemeClr val="bg1"/>
                </a:solidFill>
              </a:rPr>
              <a:t> Khan [</a:t>
            </a:r>
            <a:r>
              <a:rPr lang="en-US" sz="1000" b="1" cap="all" dirty="0" err="1">
                <a:solidFill>
                  <a:schemeClr val="bg1"/>
                </a:solidFill>
              </a:rPr>
              <a:t>AzK</a:t>
            </a:r>
            <a:r>
              <a:rPr lang="en-US" sz="1000" b="1" cap="all" dirty="0">
                <a:solidFill>
                  <a:schemeClr val="bg1"/>
                </a:solidFill>
              </a:rPr>
              <a:t>]</a:t>
            </a:r>
          </a:p>
          <a:p>
            <a:pPr marL="0" indent="0" algn="ctr">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65760"/>
            <a:ext cx="365760" cy="365760"/>
          </a:xfrm>
          <a:prstGeom prst="rect">
            <a:avLst/>
          </a:prstGeom>
        </p:spPr>
      </p:pic>
      <p:sp>
        <p:nvSpPr>
          <p:cNvPr id="3" name="Text 0"/>
          <p:cNvSpPr/>
          <p:nvPr/>
        </p:nvSpPr>
        <p:spPr>
          <a:xfrm>
            <a:off x="914400" y="411480"/>
            <a:ext cx="7772400" cy="365760"/>
          </a:xfrm>
          <a:prstGeom prst="rect">
            <a:avLst/>
          </a:prstGeom>
          <a:noFill/>
          <a:ln/>
        </p:spPr>
        <p:txBody>
          <a:bodyPr wrap="square" lIns="0" tIns="0" rIns="0" bIns="0" rtlCol="0" anchor="ctr"/>
          <a:lstStyle/>
          <a:p>
            <a:pPr marL="0" indent="0">
              <a:buNone/>
            </a:pPr>
            <a:r>
              <a:rPr lang="en-US" sz="3600" b="1" dirty="0">
                <a:solidFill>
                  <a:srgbClr val="2C3E50"/>
                </a:solidFill>
                <a:latin typeface="Calibri" pitchFamily="34" charset="0"/>
                <a:ea typeface="Calibri" pitchFamily="34" charset="-122"/>
                <a:cs typeface="Calibri" pitchFamily="34" charset="-120"/>
              </a:rPr>
              <a:t>Project Overview: The Big Picture</a:t>
            </a:r>
            <a:endParaRPr lang="en-US" sz="3600" dirty="0"/>
          </a:p>
        </p:txBody>
      </p:sp>
      <p:sp>
        <p:nvSpPr>
          <p:cNvPr id="4" name="Shape 1"/>
          <p:cNvSpPr/>
          <p:nvPr/>
        </p:nvSpPr>
        <p:spPr>
          <a:xfrm>
            <a:off x="457200" y="1097280"/>
            <a:ext cx="8229600" cy="1280160"/>
          </a:xfrm>
          <a:prstGeom prst="rect">
            <a:avLst/>
          </a:prstGeom>
          <a:solidFill>
            <a:srgbClr val="E0F2FE"/>
          </a:solidFill>
          <a:ln/>
          <a:effectLst>
            <a:outerShdw blurRad="76200" dist="25400" dir="8100000" algn="bl" rotWithShape="0">
              <a:srgbClr val="000000">
                <a:alpha val="8000"/>
              </a:srgbClr>
            </a:outerShdw>
          </a:effectLst>
        </p:spPr>
      </p:sp>
      <p:sp>
        <p:nvSpPr>
          <p:cNvPr id="5" name="Text 2"/>
          <p:cNvSpPr/>
          <p:nvPr/>
        </p:nvSpPr>
        <p:spPr>
          <a:xfrm>
            <a:off x="640080" y="1234440"/>
            <a:ext cx="7863840" cy="228600"/>
          </a:xfrm>
          <a:prstGeom prst="rect">
            <a:avLst/>
          </a:prstGeom>
          <a:noFill/>
          <a:ln/>
        </p:spPr>
        <p:txBody>
          <a:bodyPr wrap="square"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The Core Problem:</a:t>
            </a:r>
            <a:endParaRPr lang="en-US" sz="1500" dirty="0"/>
          </a:p>
        </p:txBody>
      </p:sp>
      <p:sp>
        <p:nvSpPr>
          <p:cNvPr id="6" name="Text 3"/>
          <p:cNvSpPr/>
          <p:nvPr/>
        </p:nvSpPr>
        <p:spPr>
          <a:xfrm>
            <a:off x="640080" y="1508760"/>
            <a:ext cx="7863840" cy="73152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Misinformation spreads by pairing authentic images with misleading captions — for example, using a 2015 earthquake photo with a headline claiming "Breaking: Major earthquake in Tokyo today!" The image is real, but the context is fabricated. Current detectors either analyze text alone (missing visual context) or blindly combine features without checking if image and text actually match.</a:t>
            </a:r>
            <a:endParaRPr lang="en-US" sz="1300" dirty="0"/>
          </a:p>
        </p:txBody>
      </p:sp>
      <p:sp>
        <p:nvSpPr>
          <p:cNvPr id="7" name="Shape 4"/>
          <p:cNvSpPr/>
          <p:nvPr/>
        </p:nvSpPr>
        <p:spPr>
          <a:xfrm>
            <a:off x="457200" y="2560320"/>
            <a:ext cx="8229600" cy="1188720"/>
          </a:xfrm>
          <a:prstGeom prst="rect">
            <a:avLst/>
          </a:prstGeom>
          <a:solidFill>
            <a:srgbClr val="F5F5F5"/>
          </a:solidFill>
          <a:ln/>
          <a:effectLst>
            <a:outerShdw blurRad="76200" dist="25400" dir="8100000" algn="bl" rotWithShape="0">
              <a:srgbClr val="000000">
                <a:alpha val="8000"/>
              </a:srgbClr>
            </a:outerShdw>
          </a:effectLst>
        </p:spPr>
      </p:sp>
      <p:sp>
        <p:nvSpPr>
          <p:cNvPr id="8" name="Text 5"/>
          <p:cNvSpPr/>
          <p:nvPr/>
        </p:nvSpPr>
        <p:spPr>
          <a:xfrm>
            <a:off x="640080" y="2697480"/>
            <a:ext cx="7863840" cy="228600"/>
          </a:xfrm>
          <a:prstGeom prst="rect">
            <a:avLst/>
          </a:prstGeom>
          <a:noFill/>
          <a:ln/>
        </p:spPr>
        <p:txBody>
          <a:bodyPr wrap="square"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Our Innovation: Explicit Inconsistency Detection</a:t>
            </a:r>
            <a:endParaRPr lang="en-US" sz="1500" dirty="0"/>
          </a:p>
        </p:txBody>
      </p:sp>
      <p:sp>
        <p:nvSpPr>
          <p:cNvPr id="9" name="Text 6"/>
          <p:cNvSpPr/>
          <p:nvPr/>
        </p:nvSpPr>
        <p:spPr>
          <a:xfrm>
            <a:off x="640080" y="2971800"/>
            <a:ext cx="7863840" cy="6858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Instead of just fusing image and text features, we build a system that actively measures cross-modal consistency: Does this image show what the text claims? We use vision-language models to extract semantic meaning from both modalities, then explicitly calculate inconsistency scores to detect contradictions between visual content and textual claims.</a:t>
            </a:r>
            <a:endParaRPr lang="en-US" sz="1300" dirty="0"/>
          </a:p>
        </p:txBody>
      </p:sp>
      <p:sp>
        <p:nvSpPr>
          <p:cNvPr id="10" name="Shape 7"/>
          <p:cNvSpPr/>
          <p:nvPr/>
        </p:nvSpPr>
        <p:spPr>
          <a:xfrm>
            <a:off x="1371600" y="3931920"/>
            <a:ext cx="6400800" cy="548640"/>
          </a:xfrm>
          <a:prstGeom prst="rect">
            <a:avLst/>
          </a:prstGeom>
          <a:solidFill>
            <a:srgbClr val="00A896"/>
          </a:solidFill>
          <a:ln/>
        </p:spPr>
      </p:sp>
      <p:sp>
        <p:nvSpPr>
          <p:cNvPr id="11" name="Text 8"/>
          <p:cNvSpPr/>
          <p:nvPr/>
        </p:nvSpPr>
        <p:spPr>
          <a:xfrm>
            <a:off x="1371600" y="3931920"/>
            <a:ext cx="6400800" cy="5486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Key Idea: Teach AI to spot contradictions, not just recognize patterns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65760"/>
            <a:ext cx="365760" cy="365760"/>
          </a:xfrm>
          <a:prstGeom prst="rect">
            <a:avLst/>
          </a:prstGeom>
        </p:spPr>
      </p:pic>
      <p:sp>
        <p:nvSpPr>
          <p:cNvPr id="3" name="Text 0"/>
          <p:cNvSpPr/>
          <p:nvPr/>
        </p:nvSpPr>
        <p:spPr>
          <a:xfrm>
            <a:off x="914400" y="411480"/>
            <a:ext cx="7772400" cy="365760"/>
          </a:xfrm>
          <a:prstGeom prst="rect">
            <a:avLst/>
          </a:prstGeom>
          <a:noFill/>
          <a:ln/>
        </p:spPr>
        <p:txBody>
          <a:bodyPr wrap="square" lIns="0" tIns="0" rIns="0" bIns="0" rtlCol="0" anchor="ctr"/>
          <a:lstStyle/>
          <a:p>
            <a:pPr marL="0" indent="0">
              <a:buNone/>
            </a:pPr>
            <a:r>
              <a:rPr lang="en-US" sz="3600" b="1" dirty="0">
                <a:solidFill>
                  <a:srgbClr val="2C3E50"/>
                </a:solidFill>
                <a:latin typeface="Calibri" pitchFamily="34" charset="0"/>
                <a:ea typeface="Calibri" pitchFamily="34" charset="-122"/>
                <a:cs typeface="Calibri" pitchFamily="34" charset="-120"/>
              </a:rPr>
              <a:t>Motivation</a:t>
            </a:r>
            <a:endParaRPr lang="en-US" sz="3600" dirty="0"/>
          </a:p>
        </p:txBody>
      </p:sp>
      <p:sp>
        <p:nvSpPr>
          <p:cNvPr id="4" name="Shape 1"/>
          <p:cNvSpPr/>
          <p:nvPr/>
        </p:nvSpPr>
        <p:spPr>
          <a:xfrm>
            <a:off x="457200" y="1097280"/>
            <a:ext cx="8229600" cy="1005840"/>
          </a:xfrm>
          <a:prstGeom prst="rect">
            <a:avLst/>
          </a:prstGeom>
          <a:solidFill>
            <a:srgbClr val="F5F5F5"/>
          </a:solidFill>
          <a:ln/>
          <a:effectLst>
            <a:outerShdw blurRad="76200" dist="25400" dir="8100000" algn="bl" rotWithShape="0">
              <a:srgbClr val="000000">
                <a:alpha val="8000"/>
              </a:srgbClr>
            </a:outerShdw>
          </a:effectLst>
        </p:spPr>
      </p:sp>
      <p:sp>
        <p:nvSpPr>
          <p:cNvPr id="5" name="Shape 2"/>
          <p:cNvSpPr/>
          <p:nvPr/>
        </p:nvSpPr>
        <p:spPr>
          <a:xfrm>
            <a:off x="457200" y="1097280"/>
            <a:ext cx="73152" cy="1005840"/>
          </a:xfrm>
          <a:prstGeom prst="rect">
            <a:avLst/>
          </a:prstGeom>
          <a:solidFill>
            <a:srgbClr val="065A82"/>
          </a:solidFill>
          <a:ln/>
        </p:spPr>
      </p:sp>
      <p:sp>
        <p:nvSpPr>
          <p:cNvPr id="6" name="Text 3"/>
          <p:cNvSpPr/>
          <p:nvPr/>
        </p:nvSpPr>
        <p:spPr>
          <a:xfrm>
            <a:off x="731520" y="1280160"/>
            <a:ext cx="7772400" cy="640080"/>
          </a:xfrm>
          <a:prstGeom prst="rect">
            <a:avLst/>
          </a:prstGeom>
          <a:noFill/>
          <a:ln/>
        </p:spPr>
        <p:txBody>
          <a:bodyPr wrap="square" rtlCol="0" anchor="ctr"/>
          <a:lstStyle/>
          <a:p>
            <a:pPr marL="0" indent="0">
              <a:buNone/>
            </a:pPr>
            <a:r>
              <a:rPr lang="en-US" sz="1600" b="1" dirty="0">
                <a:solidFill>
                  <a:srgbClr val="2C3E50"/>
                </a:solidFill>
                <a:latin typeface="Calibri" pitchFamily="34" charset="0"/>
                <a:ea typeface="Calibri" pitchFamily="34" charset="-122"/>
                <a:cs typeface="Calibri" pitchFamily="34" charset="-120"/>
              </a:rPr>
              <a:t>The Misinformation Crisis</a:t>
            </a:r>
            <a:endParaRPr lang="en-US" sz="1600" dirty="0"/>
          </a:p>
          <a:p>
            <a:pPr marL="0" indent="0">
              <a:buNone/>
            </a:pPr>
            <a:r>
              <a:rPr lang="en-US" sz="1400" dirty="0">
                <a:solidFill>
                  <a:srgbClr val="64748B"/>
                </a:solidFill>
                <a:latin typeface="Calibri" pitchFamily="34" charset="0"/>
                <a:ea typeface="Calibri" pitchFamily="34" charset="-122"/>
                <a:cs typeface="Calibri" pitchFamily="34" charset="-120"/>
              </a:rPr>
              <a:t>Social media platforms spread false information at unprecedented scale, influencing public opinion, elections, and health decisions</a:t>
            </a:r>
            <a:endParaRPr lang="en-US" sz="1600" dirty="0"/>
          </a:p>
        </p:txBody>
      </p:sp>
      <p:sp>
        <p:nvSpPr>
          <p:cNvPr id="7" name="Shape 4"/>
          <p:cNvSpPr/>
          <p:nvPr/>
        </p:nvSpPr>
        <p:spPr>
          <a:xfrm>
            <a:off x="457200" y="2286000"/>
            <a:ext cx="8229600" cy="1005840"/>
          </a:xfrm>
          <a:prstGeom prst="rect">
            <a:avLst/>
          </a:prstGeom>
          <a:solidFill>
            <a:srgbClr val="F5F5F5"/>
          </a:solidFill>
          <a:ln/>
          <a:effectLst>
            <a:outerShdw blurRad="76200" dist="25400" dir="8100000" algn="bl" rotWithShape="0">
              <a:srgbClr val="000000">
                <a:alpha val="8000"/>
              </a:srgbClr>
            </a:outerShdw>
          </a:effectLst>
        </p:spPr>
      </p:sp>
      <p:sp>
        <p:nvSpPr>
          <p:cNvPr id="8" name="Shape 5"/>
          <p:cNvSpPr/>
          <p:nvPr/>
        </p:nvSpPr>
        <p:spPr>
          <a:xfrm>
            <a:off x="457200" y="2286000"/>
            <a:ext cx="73152" cy="1005840"/>
          </a:xfrm>
          <a:prstGeom prst="rect">
            <a:avLst/>
          </a:prstGeom>
          <a:solidFill>
            <a:srgbClr val="028090"/>
          </a:solidFill>
          <a:ln/>
        </p:spPr>
      </p:sp>
      <p:sp>
        <p:nvSpPr>
          <p:cNvPr id="9" name="Text 6"/>
          <p:cNvSpPr/>
          <p:nvPr/>
        </p:nvSpPr>
        <p:spPr>
          <a:xfrm>
            <a:off x="731520" y="2468880"/>
            <a:ext cx="7772400" cy="640080"/>
          </a:xfrm>
          <a:prstGeom prst="rect">
            <a:avLst/>
          </a:prstGeom>
          <a:noFill/>
          <a:ln/>
        </p:spPr>
        <p:txBody>
          <a:bodyPr wrap="square" rtlCol="0" anchor="ctr"/>
          <a:lstStyle/>
          <a:p>
            <a:pPr marL="0" indent="0">
              <a:buNone/>
            </a:pPr>
            <a:r>
              <a:rPr lang="en-US" sz="1600" b="1" dirty="0">
                <a:solidFill>
                  <a:srgbClr val="2C3E50"/>
                </a:solidFill>
                <a:latin typeface="Calibri" pitchFamily="34" charset="0"/>
                <a:ea typeface="Calibri" pitchFamily="34" charset="-122"/>
                <a:cs typeface="Calibri" pitchFamily="34" charset="-120"/>
              </a:rPr>
              <a:t>Multimodal Manipulation is Harder to Detect</a:t>
            </a:r>
            <a:endParaRPr lang="en-US" sz="1600" dirty="0"/>
          </a:p>
          <a:p>
            <a:pPr marL="0" indent="0">
              <a:buNone/>
            </a:pPr>
            <a:r>
              <a:rPr lang="en-US" sz="1400" dirty="0">
                <a:solidFill>
                  <a:srgbClr val="64748B"/>
                </a:solidFill>
                <a:latin typeface="Calibri" pitchFamily="34" charset="0"/>
                <a:ea typeface="Calibri" pitchFamily="34" charset="-122"/>
                <a:cs typeface="Calibri" pitchFamily="34" charset="-120"/>
              </a:rPr>
              <a:t>Misleading content often combines out-of-context images with fabricated captions to create convincing false narratives</a:t>
            </a:r>
            <a:endParaRPr lang="en-US" sz="1600" dirty="0"/>
          </a:p>
        </p:txBody>
      </p:sp>
      <p:sp>
        <p:nvSpPr>
          <p:cNvPr id="10" name="Shape 7"/>
          <p:cNvSpPr/>
          <p:nvPr/>
        </p:nvSpPr>
        <p:spPr>
          <a:xfrm>
            <a:off x="457200" y="3474720"/>
            <a:ext cx="8229600" cy="1005840"/>
          </a:xfrm>
          <a:prstGeom prst="rect">
            <a:avLst/>
          </a:prstGeom>
          <a:solidFill>
            <a:srgbClr val="F5F5F5"/>
          </a:solidFill>
          <a:ln/>
          <a:effectLst>
            <a:outerShdw blurRad="76200" dist="25400" dir="8100000" algn="bl" rotWithShape="0">
              <a:srgbClr val="000000">
                <a:alpha val="8000"/>
              </a:srgbClr>
            </a:outerShdw>
          </a:effectLst>
        </p:spPr>
      </p:sp>
      <p:sp>
        <p:nvSpPr>
          <p:cNvPr id="11" name="Shape 8"/>
          <p:cNvSpPr/>
          <p:nvPr/>
        </p:nvSpPr>
        <p:spPr>
          <a:xfrm>
            <a:off x="457200" y="3474720"/>
            <a:ext cx="73152" cy="1005840"/>
          </a:xfrm>
          <a:prstGeom prst="rect">
            <a:avLst/>
          </a:prstGeom>
          <a:solidFill>
            <a:srgbClr val="00A896"/>
          </a:solidFill>
          <a:ln/>
        </p:spPr>
      </p:sp>
      <p:sp>
        <p:nvSpPr>
          <p:cNvPr id="12" name="Text 9"/>
          <p:cNvSpPr/>
          <p:nvPr/>
        </p:nvSpPr>
        <p:spPr>
          <a:xfrm>
            <a:off x="731520" y="3657600"/>
            <a:ext cx="7772400" cy="640080"/>
          </a:xfrm>
          <a:prstGeom prst="rect">
            <a:avLst/>
          </a:prstGeom>
          <a:noFill/>
          <a:ln/>
        </p:spPr>
        <p:txBody>
          <a:bodyPr wrap="square" rtlCol="0" anchor="ctr"/>
          <a:lstStyle/>
          <a:p>
            <a:pPr marL="0" indent="0">
              <a:buNone/>
            </a:pPr>
            <a:r>
              <a:rPr lang="en-US" sz="1600" b="1" dirty="0">
                <a:solidFill>
                  <a:srgbClr val="2C3E50"/>
                </a:solidFill>
                <a:latin typeface="Calibri" pitchFamily="34" charset="0"/>
                <a:ea typeface="Calibri" pitchFamily="34" charset="-122"/>
                <a:cs typeface="Calibri" pitchFamily="34" charset="-120"/>
              </a:rPr>
              <a:t>Real-World Example</a:t>
            </a:r>
            <a:endParaRPr lang="en-US" sz="1600" dirty="0"/>
          </a:p>
          <a:p>
            <a:pPr marL="0" indent="0">
              <a:buNone/>
            </a:pPr>
            <a:r>
              <a:rPr lang="en-US" sz="1400" dirty="0">
                <a:solidFill>
                  <a:srgbClr val="64748B"/>
                </a:solidFill>
                <a:latin typeface="Calibri" pitchFamily="34" charset="0"/>
                <a:ea typeface="Calibri" pitchFamily="34" charset="-122"/>
                <a:cs typeface="Calibri" pitchFamily="34" charset="-120"/>
              </a:rPr>
              <a:t>Photo from 2015 earthquake paired with headline about 2023 conflict — same image, completely different context and intent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8229600" cy="365760"/>
          </a:xfrm>
          <a:prstGeom prst="rect">
            <a:avLst/>
          </a:prstGeom>
          <a:noFill/>
          <a:ln/>
        </p:spPr>
        <p:txBody>
          <a:bodyPr wrap="square" rtlCol="0" anchor="ctr"/>
          <a:lstStyle/>
          <a:p>
            <a:pPr marL="0" indent="0">
              <a:buNone/>
            </a:pPr>
            <a:r>
              <a:rPr lang="en-US" sz="3600" b="1" dirty="0">
                <a:solidFill>
                  <a:srgbClr val="2C3E50"/>
                </a:solidFill>
                <a:latin typeface="Calibri" pitchFamily="34" charset="0"/>
                <a:ea typeface="Calibri" pitchFamily="34" charset="-122"/>
                <a:cs typeface="Calibri" pitchFamily="34" charset="-120"/>
              </a:rPr>
              <a:t>Problem Statement</a:t>
            </a:r>
            <a:endParaRPr lang="en-US" sz="3600" dirty="0"/>
          </a:p>
        </p:txBody>
      </p:sp>
      <p:sp>
        <p:nvSpPr>
          <p:cNvPr id="3" name="Shape 1"/>
          <p:cNvSpPr/>
          <p:nvPr/>
        </p:nvSpPr>
        <p:spPr>
          <a:xfrm>
            <a:off x="457200" y="1188720"/>
            <a:ext cx="3931920" cy="1645920"/>
          </a:xfrm>
          <a:prstGeom prst="rect">
            <a:avLst/>
          </a:prstGeom>
          <a:solidFill>
            <a:srgbClr val="F5F5F5"/>
          </a:solidFill>
          <a:ln/>
          <a:effectLst>
            <a:outerShdw blurRad="76200" dist="25400" dir="8100000" algn="bl" rotWithShape="0">
              <a:srgbClr val="000000">
                <a:alpha val="8000"/>
              </a:srgbClr>
            </a:outerShdw>
          </a:effectLst>
        </p:spPr>
      </p:sp>
      <p:pic>
        <p:nvPicPr>
          <p:cNvPr id="4" name="Image 0" descr="preencoded.png"/>
          <p:cNvPicPr>
            <a:picLocks noChangeAspect="1"/>
          </p:cNvPicPr>
          <p:nvPr/>
        </p:nvPicPr>
        <p:blipFill>
          <a:blip r:embed="rId3"/>
          <a:stretch>
            <a:fillRect/>
          </a:stretch>
        </p:blipFill>
        <p:spPr>
          <a:xfrm>
            <a:off x="640080" y="1371600"/>
            <a:ext cx="320040" cy="320040"/>
          </a:xfrm>
          <a:prstGeom prst="rect">
            <a:avLst/>
          </a:prstGeom>
        </p:spPr>
      </p:pic>
      <p:sp>
        <p:nvSpPr>
          <p:cNvPr id="5" name="Text 2"/>
          <p:cNvSpPr/>
          <p:nvPr/>
        </p:nvSpPr>
        <p:spPr>
          <a:xfrm>
            <a:off x="1051560" y="1417320"/>
            <a:ext cx="3200400" cy="274320"/>
          </a:xfrm>
          <a:prstGeom prst="rect">
            <a:avLst/>
          </a:prstGeom>
          <a:noFill/>
          <a:ln/>
        </p:spPr>
        <p:txBody>
          <a:bodyPr wrap="square" rtlCol="0" anchor="ctr"/>
          <a:lstStyle/>
          <a:p>
            <a:pPr marL="0" indent="0">
              <a:buNone/>
            </a:pPr>
            <a:r>
              <a:rPr lang="en-US" sz="1600" b="1" dirty="0">
                <a:solidFill>
                  <a:srgbClr val="2C3E50"/>
                </a:solidFill>
                <a:latin typeface="Calibri" pitchFamily="34" charset="0"/>
                <a:ea typeface="Calibri" pitchFamily="34" charset="-122"/>
                <a:cs typeface="Calibri" pitchFamily="34" charset="-120"/>
              </a:rPr>
              <a:t>Visual Content</a:t>
            </a:r>
            <a:endParaRPr lang="en-US" sz="1600" dirty="0"/>
          </a:p>
        </p:txBody>
      </p:sp>
      <p:sp>
        <p:nvSpPr>
          <p:cNvPr id="6" name="Text 3"/>
          <p:cNvSpPr/>
          <p:nvPr/>
        </p:nvSpPr>
        <p:spPr>
          <a:xfrm>
            <a:off x="640080" y="1828800"/>
            <a:ext cx="3657600" cy="73152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Images can be authentic but used in misleading contexts</a:t>
            </a:r>
            <a:endParaRPr lang="en-US" sz="1300" dirty="0"/>
          </a:p>
        </p:txBody>
      </p:sp>
      <p:sp>
        <p:nvSpPr>
          <p:cNvPr id="7" name="Text 4"/>
          <p:cNvSpPr/>
          <p:nvPr/>
        </p:nvSpPr>
        <p:spPr>
          <a:xfrm>
            <a:off x="4297680" y="1737360"/>
            <a:ext cx="548640" cy="548640"/>
          </a:xfrm>
          <a:prstGeom prst="rect">
            <a:avLst/>
          </a:prstGeom>
          <a:noFill/>
          <a:ln/>
        </p:spPr>
        <p:txBody>
          <a:bodyPr wrap="square" rtlCol="0" anchor="ctr"/>
          <a:lstStyle/>
          <a:p>
            <a:pPr marL="0" indent="0" algn="ctr">
              <a:buNone/>
            </a:pPr>
            <a:r>
              <a:rPr lang="en-US" sz="4400" b="1" dirty="0">
                <a:solidFill>
                  <a:srgbClr val="00A896"/>
                </a:solidFill>
              </a:rPr>
              <a:t>+</a:t>
            </a:r>
            <a:endParaRPr lang="en-US" sz="4400" dirty="0"/>
          </a:p>
        </p:txBody>
      </p:sp>
      <p:sp>
        <p:nvSpPr>
          <p:cNvPr id="8" name="Shape 5"/>
          <p:cNvSpPr/>
          <p:nvPr/>
        </p:nvSpPr>
        <p:spPr>
          <a:xfrm>
            <a:off x="4754880" y="1188720"/>
            <a:ext cx="3931920" cy="1645920"/>
          </a:xfrm>
          <a:prstGeom prst="rect">
            <a:avLst/>
          </a:prstGeom>
          <a:solidFill>
            <a:srgbClr val="F5F5F5"/>
          </a:solidFill>
          <a:ln/>
          <a:effectLst>
            <a:outerShdw blurRad="76200" dist="25400" dir="8100000" algn="bl" rotWithShape="0">
              <a:srgbClr val="000000">
                <a:alpha val="8000"/>
              </a:srgbClr>
            </a:outerShdw>
          </a:effectLst>
        </p:spPr>
      </p:sp>
      <p:pic>
        <p:nvPicPr>
          <p:cNvPr id="9" name="Image 1" descr="preencoded.png"/>
          <p:cNvPicPr>
            <a:picLocks noChangeAspect="1"/>
          </p:cNvPicPr>
          <p:nvPr/>
        </p:nvPicPr>
        <p:blipFill>
          <a:blip r:embed="rId4"/>
          <a:stretch>
            <a:fillRect/>
          </a:stretch>
        </p:blipFill>
        <p:spPr>
          <a:xfrm>
            <a:off x="4937760" y="1371600"/>
            <a:ext cx="320040" cy="320040"/>
          </a:xfrm>
          <a:prstGeom prst="rect">
            <a:avLst/>
          </a:prstGeom>
        </p:spPr>
      </p:pic>
      <p:sp>
        <p:nvSpPr>
          <p:cNvPr id="10" name="Text 6"/>
          <p:cNvSpPr/>
          <p:nvPr/>
        </p:nvSpPr>
        <p:spPr>
          <a:xfrm>
            <a:off x="5349240" y="1417320"/>
            <a:ext cx="3200400" cy="274320"/>
          </a:xfrm>
          <a:prstGeom prst="rect">
            <a:avLst/>
          </a:prstGeom>
          <a:noFill/>
          <a:ln/>
        </p:spPr>
        <p:txBody>
          <a:bodyPr wrap="square" rtlCol="0" anchor="ctr"/>
          <a:lstStyle/>
          <a:p>
            <a:pPr marL="0" indent="0">
              <a:buNone/>
            </a:pPr>
            <a:r>
              <a:rPr lang="en-US" sz="1600" b="1" dirty="0">
                <a:solidFill>
                  <a:srgbClr val="2C3E50"/>
                </a:solidFill>
                <a:latin typeface="Calibri" pitchFamily="34" charset="0"/>
                <a:ea typeface="Calibri" pitchFamily="34" charset="-122"/>
                <a:cs typeface="Calibri" pitchFamily="34" charset="-120"/>
              </a:rPr>
              <a:t>Textual Claims</a:t>
            </a:r>
            <a:endParaRPr lang="en-US" sz="1600" dirty="0"/>
          </a:p>
        </p:txBody>
      </p:sp>
      <p:sp>
        <p:nvSpPr>
          <p:cNvPr id="11" name="Text 7"/>
          <p:cNvSpPr/>
          <p:nvPr/>
        </p:nvSpPr>
        <p:spPr>
          <a:xfrm>
            <a:off x="4937760" y="1828800"/>
            <a:ext cx="3657600" cy="73152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Captions may fabricate events or misrepresent context</a:t>
            </a:r>
            <a:endParaRPr lang="en-US" sz="1300" dirty="0"/>
          </a:p>
        </p:txBody>
      </p:sp>
      <p:sp>
        <p:nvSpPr>
          <p:cNvPr id="12" name="Text 8"/>
          <p:cNvSpPr/>
          <p:nvPr/>
        </p:nvSpPr>
        <p:spPr>
          <a:xfrm>
            <a:off x="4297680" y="2743200"/>
            <a:ext cx="548640" cy="457200"/>
          </a:xfrm>
          <a:prstGeom prst="rect">
            <a:avLst/>
          </a:prstGeom>
          <a:noFill/>
          <a:ln/>
        </p:spPr>
        <p:txBody>
          <a:bodyPr wrap="square" rtlCol="0" anchor="ctr"/>
          <a:lstStyle/>
          <a:p>
            <a:pPr marL="0" indent="0" algn="ctr">
              <a:buNone/>
            </a:pPr>
            <a:r>
              <a:rPr lang="en-US" sz="4000" b="1" dirty="0">
                <a:solidFill>
                  <a:srgbClr val="1E2761"/>
                </a:solidFill>
              </a:rPr>
              <a:t>=</a:t>
            </a:r>
            <a:endParaRPr lang="en-US" sz="4000" dirty="0"/>
          </a:p>
        </p:txBody>
      </p:sp>
      <p:sp>
        <p:nvSpPr>
          <p:cNvPr id="13" name="Shape 9"/>
          <p:cNvSpPr/>
          <p:nvPr/>
        </p:nvSpPr>
        <p:spPr>
          <a:xfrm>
            <a:off x="1371600" y="3200400"/>
            <a:ext cx="6400800" cy="1188720"/>
          </a:xfrm>
          <a:prstGeom prst="rect">
            <a:avLst/>
          </a:prstGeom>
          <a:solidFill>
            <a:srgbClr val="065A82"/>
          </a:solidFill>
          <a:ln/>
          <a:effectLst>
            <a:outerShdw blurRad="76200" dist="25400" dir="8100000" algn="bl" rotWithShape="0">
              <a:srgbClr val="000000">
                <a:alpha val="8000"/>
              </a:srgbClr>
            </a:outerShdw>
          </a:effectLst>
        </p:spPr>
      </p:sp>
      <p:sp>
        <p:nvSpPr>
          <p:cNvPr id="14" name="Text 10"/>
          <p:cNvSpPr/>
          <p:nvPr/>
        </p:nvSpPr>
        <p:spPr>
          <a:xfrm>
            <a:off x="1371600" y="3383280"/>
            <a:ext cx="6400800" cy="3657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Cross-Modal Misinformation</a:t>
            </a:r>
            <a:endParaRPr lang="en-US" sz="2200" dirty="0"/>
          </a:p>
        </p:txBody>
      </p:sp>
      <p:sp>
        <p:nvSpPr>
          <p:cNvPr id="15" name="Text 11"/>
          <p:cNvSpPr/>
          <p:nvPr/>
        </p:nvSpPr>
        <p:spPr>
          <a:xfrm>
            <a:off x="1371600" y="3840480"/>
            <a:ext cx="6400800" cy="365760"/>
          </a:xfrm>
          <a:prstGeom prst="rect">
            <a:avLst/>
          </a:prstGeom>
          <a:noFill/>
          <a:ln/>
        </p:spPr>
        <p:txBody>
          <a:bodyPr wrap="square"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Inconsistency between image and text creates deception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8229600" cy="365760"/>
          </a:xfrm>
          <a:prstGeom prst="rect">
            <a:avLst/>
          </a:prstGeom>
          <a:noFill/>
          <a:ln/>
        </p:spPr>
        <p:txBody>
          <a:bodyPr wrap="square" rtlCol="0" anchor="ctr"/>
          <a:lstStyle/>
          <a:p>
            <a:pPr marL="0" indent="0">
              <a:buNone/>
            </a:pPr>
            <a:r>
              <a:rPr lang="en-US" sz="3600" b="1" dirty="0">
                <a:solidFill>
                  <a:srgbClr val="2C3E50"/>
                </a:solidFill>
                <a:latin typeface="Calibri" pitchFamily="34" charset="0"/>
                <a:ea typeface="Calibri" pitchFamily="34" charset="-122"/>
                <a:cs typeface="Calibri" pitchFamily="34" charset="-120"/>
              </a:rPr>
              <a:t>Background &amp; Existing Work</a:t>
            </a:r>
            <a:endParaRPr lang="en-US" sz="3600" dirty="0"/>
          </a:p>
        </p:txBody>
      </p:sp>
      <p:sp>
        <p:nvSpPr>
          <p:cNvPr id="3" name="Text 1"/>
          <p:cNvSpPr/>
          <p:nvPr/>
        </p:nvSpPr>
        <p:spPr>
          <a:xfrm>
            <a:off x="457200" y="1097280"/>
            <a:ext cx="8229600" cy="274320"/>
          </a:xfrm>
          <a:prstGeom prst="rect">
            <a:avLst/>
          </a:prstGeom>
          <a:noFill/>
          <a:ln/>
        </p:spPr>
        <p:txBody>
          <a:bodyPr wrap="square" rtlCol="0" anchor="ctr"/>
          <a:lstStyle/>
          <a:p>
            <a:pPr marL="0" indent="0">
              <a:buNone/>
            </a:pPr>
            <a:r>
              <a:rPr lang="en-US" sz="1600" b="1" dirty="0">
                <a:solidFill>
                  <a:srgbClr val="2C3E50"/>
                </a:solidFill>
                <a:latin typeface="Calibri" pitchFamily="34" charset="0"/>
                <a:ea typeface="Calibri" pitchFamily="34" charset="-122"/>
                <a:cs typeface="Calibri" pitchFamily="34" charset="-120"/>
              </a:rPr>
              <a:t>Current Approaches to Multimodal Fake News Detection:</a:t>
            </a:r>
            <a:endParaRPr lang="en-US" sz="1600" dirty="0"/>
          </a:p>
        </p:txBody>
      </p:sp>
      <p:sp>
        <p:nvSpPr>
          <p:cNvPr id="4" name="Shape 2"/>
          <p:cNvSpPr/>
          <p:nvPr/>
        </p:nvSpPr>
        <p:spPr>
          <a:xfrm>
            <a:off x="457200" y="1554480"/>
            <a:ext cx="8229600" cy="822960"/>
          </a:xfrm>
          <a:prstGeom prst="rect">
            <a:avLst/>
          </a:prstGeom>
          <a:solidFill>
            <a:srgbClr val="F5F5F5"/>
          </a:solidFill>
          <a:ln/>
          <a:effectLst>
            <a:outerShdw blurRad="76200" dist="25400" dir="8100000" algn="bl" rotWithShape="0">
              <a:srgbClr val="000000">
                <a:alpha val="8000"/>
              </a:srgbClr>
            </a:outerShdw>
          </a:effectLst>
        </p:spPr>
      </p:sp>
      <p:sp>
        <p:nvSpPr>
          <p:cNvPr id="5" name="Text 3"/>
          <p:cNvSpPr/>
          <p:nvPr/>
        </p:nvSpPr>
        <p:spPr>
          <a:xfrm>
            <a:off x="731520" y="1691640"/>
            <a:ext cx="7772400" cy="548640"/>
          </a:xfrm>
          <a:prstGeom prst="rect">
            <a:avLst/>
          </a:prstGeom>
          <a:noFill/>
          <a:ln/>
        </p:spPr>
        <p:txBody>
          <a:bodyPr wrap="square"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1. CLIP-Based Fusion Models</a:t>
            </a:r>
            <a:endParaRPr lang="en-US" sz="1500" dirty="0"/>
          </a:p>
          <a:p>
            <a:pPr marL="0" indent="0">
              <a:buNone/>
            </a:pPr>
            <a:r>
              <a:rPr lang="en-US" sz="1300" dirty="0">
                <a:solidFill>
                  <a:srgbClr val="64748B"/>
                </a:solidFill>
                <a:latin typeface="Calibri" pitchFamily="34" charset="0"/>
                <a:ea typeface="Calibri" pitchFamily="34" charset="-122"/>
                <a:cs typeface="Calibri" pitchFamily="34" charset="-120"/>
              </a:rPr>
              <a:t>Use vision-language models like CLIP to create joint embeddings of images and text, then classify based on combined representation</a:t>
            </a:r>
            <a:endParaRPr lang="en-US" sz="1500" dirty="0"/>
          </a:p>
        </p:txBody>
      </p:sp>
      <p:sp>
        <p:nvSpPr>
          <p:cNvPr id="6" name="Shape 4"/>
          <p:cNvSpPr/>
          <p:nvPr/>
        </p:nvSpPr>
        <p:spPr>
          <a:xfrm>
            <a:off x="457200" y="2560320"/>
            <a:ext cx="8229600" cy="822960"/>
          </a:xfrm>
          <a:prstGeom prst="rect">
            <a:avLst/>
          </a:prstGeom>
          <a:solidFill>
            <a:srgbClr val="F5F5F5"/>
          </a:solidFill>
          <a:ln/>
          <a:effectLst>
            <a:outerShdw blurRad="76200" dist="25400" dir="8100000" algn="bl" rotWithShape="0">
              <a:srgbClr val="000000">
                <a:alpha val="8000"/>
              </a:srgbClr>
            </a:outerShdw>
          </a:effectLst>
        </p:spPr>
      </p:sp>
      <p:sp>
        <p:nvSpPr>
          <p:cNvPr id="7" name="Text 5"/>
          <p:cNvSpPr/>
          <p:nvPr/>
        </p:nvSpPr>
        <p:spPr>
          <a:xfrm>
            <a:off x="731520" y="2697480"/>
            <a:ext cx="7772400" cy="548640"/>
          </a:xfrm>
          <a:prstGeom prst="rect">
            <a:avLst/>
          </a:prstGeom>
          <a:noFill/>
          <a:ln/>
        </p:spPr>
        <p:txBody>
          <a:bodyPr wrap="square"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2. Early Fusion</a:t>
            </a:r>
            <a:endParaRPr lang="en-US" sz="1500" dirty="0"/>
          </a:p>
          <a:p>
            <a:pPr marL="0" indent="0">
              <a:buNone/>
            </a:pPr>
            <a:r>
              <a:rPr lang="en-US" sz="1300" dirty="0">
                <a:solidFill>
                  <a:srgbClr val="64748B"/>
                </a:solidFill>
                <a:latin typeface="Calibri" pitchFamily="34" charset="0"/>
                <a:ea typeface="Calibri" pitchFamily="34" charset="-122"/>
                <a:cs typeface="Calibri" pitchFamily="34" charset="-120"/>
              </a:rPr>
              <a:t>Concatenate image and text features at the input level, then process through unified neural network</a:t>
            </a:r>
            <a:endParaRPr lang="en-US" sz="1500" dirty="0"/>
          </a:p>
        </p:txBody>
      </p:sp>
      <p:sp>
        <p:nvSpPr>
          <p:cNvPr id="8" name="Shape 6"/>
          <p:cNvSpPr/>
          <p:nvPr/>
        </p:nvSpPr>
        <p:spPr>
          <a:xfrm>
            <a:off x="457200" y="3566160"/>
            <a:ext cx="8229600" cy="822960"/>
          </a:xfrm>
          <a:prstGeom prst="rect">
            <a:avLst/>
          </a:prstGeom>
          <a:solidFill>
            <a:srgbClr val="F5F5F5"/>
          </a:solidFill>
          <a:ln/>
          <a:effectLst>
            <a:outerShdw blurRad="76200" dist="25400" dir="8100000" algn="bl" rotWithShape="0">
              <a:srgbClr val="000000">
                <a:alpha val="8000"/>
              </a:srgbClr>
            </a:outerShdw>
          </a:effectLst>
        </p:spPr>
      </p:sp>
      <p:sp>
        <p:nvSpPr>
          <p:cNvPr id="9" name="Text 7"/>
          <p:cNvSpPr/>
          <p:nvPr/>
        </p:nvSpPr>
        <p:spPr>
          <a:xfrm>
            <a:off x="731520" y="3703320"/>
            <a:ext cx="7772400" cy="548640"/>
          </a:xfrm>
          <a:prstGeom prst="rect">
            <a:avLst/>
          </a:prstGeom>
          <a:noFill/>
          <a:ln/>
        </p:spPr>
        <p:txBody>
          <a:bodyPr wrap="square" rtlCol="0" anchor="ctr"/>
          <a:lstStyle/>
          <a:p>
            <a:pPr marL="0" indent="0">
              <a:buNone/>
            </a:pPr>
            <a:r>
              <a:rPr lang="en-US" sz="1500" b="1" dirty="0">
                <a:solidFill>
                  <a:srgbClr val="00A896"/>
                </a:solidFill>
                <a:latin typeface="Calibri" pitchFamily="34" charset="0"/>
                <a:ea typeface="Calibri" pitchFamily="34" charset="-122"/>
                <a:cs typeface="Calibri" pitchFamily="34" charset="-120"/>
              </a:rPr>
              <a:t>3. Late Fusion</a:t>
            </a:r>
            <a:endParaRPr lang="en-US" sz="1500" dirty="0"/>
          </a:p>
          <a:p>
            <a:pPr marL="0" indent="0">
              <a:buNone/>
            </a:pPr>
            <a:r>
              <a:rPr lang="en-US" sz="1300" dirty="0">
                <a:solidFill>
                  <a:srgbClr val="64748B"/>
                </a:solidFill>
                <a:latin typeface="Calibri" pitchFamily="34" charset="0"/>
                <a:ea typeface="Calibri" pitchFamily="34" charset="-122"/>
                <a:cs typeface="Calibri" pitchFamily="34" charset="-120"/>
              </a:rPr>
              <a:t>Process image and text separately, then combine predictions at decision level</a:t>
            </a:r>
            <a:endParaRPr lang="en-US" sz="1500" dirty="0"/>
          </a:p>
        </p:txBody>
      </p:sp>
      <p:sp>
        <p:nvSpPr>
          <p:cNvPr id="10" name="Shape 8"/>
          <p:cNvSpPr/>
          <p:nvPr/>
        </p:nvSpPr>
        <p:spPr>
          <a:xfrm>
            <a:off x="2286000" y="4572000"/>
            <a:ext cx="4572000" cy="457200"/>
          </a:xfrm>
          <a:prstGeom prst="rect">
            <a:avLst/>
          </a:prstGeom>
          <a:solidFill>
            <a:srgbClr val="FFF4E6"/>
          </a:solidFill>
          <a:ln/>
        </p:spPr>
      </p:sp>
      <p:sp>
        <p:nvSpPr>
          <p:cNvPr id="11" name="Text 9"/>
          <p:cNvSpPr/>
          <p:nvPr/>
        </p:nvSpPr>
        <p:spPr>
          <a:xfrm>
            <a:off x="2286000" y="4572000"/>
            <a:ext cx="4572000" cy="457200"/>
          </a:xfrm>
          <a:prstGeom prst="rect">
            <a:avLst/>
          </a:prstGeom>
          <a:noFill/>
          <a:ln/>
        </p:spPr>
        <p:txBody>
          <a:bodyPr wrap="square" rtlCol="0" anchor="ctr"/>
          <a:lstStyle/>
          <a:p>
            <a:pPr marL="0" indent="0" algn="ctr">
              <a:buNone/>
            </a:pPr>
            <a:r>
              <a:rPr lang="en-US" sz="1300" i="1" dirty="0">
                <a:solidFill>
                  <a:srgbClr val="065A82"/>
                </a:solidFill>
                <a:latin typeface="Calibri" pitchFamily="34" charset="0"/>
                <a:ea typeface="Calibri" pitchFamily="34" charset="-122"/>
                <a:cs typeface="Calibri" pitchFamily="34" charset="-120"/>
              </a:rPr>
              <a:t>Limitation: These methods lack explicit inconsistency modeling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65760"/>
            <a:ext cx="365760" cy="365760"/>
          </a:xfrm>
          <a:prstGeom prst="rect">
            <a:avLst/>
          </a:prstGeom>
        </p:spPr>
      </p:pic>
      <p:sp>
        <p:nvSpPr>
          <p:cNvPr id="3" name="Text 0"/>
          <p:cNvSpPr/>
          <p:nvPr/>
        </p:nvSpPr>
        <p:spPr>
          <a:xfrm>
            <a:off x="914400" y="411480"/>
            <a:ext cx="7772400" cy="365760"/>
          </a:xfrm>
          <a:prstGeom prst="rect">
            <a:avLst/>
          </a:prstGeom>
          <a:noFill/>
          <a:ln/>
        </p:spPr>
        <p:txBody>
          <a:bodyPr wrap="square" lIns="0" tIns="0" rIns="0" bIns="0" rtlCol="0" anchor="ctr"/>
          <a:lstStyle/>
          <a:p>
            <a:pPr marL="0" indent="0">
              <a:buNone/>
            </a:pPr>
            <a:r>
              <a:rPr lang="en-US" sz="3600" b="1" dirty="0">
                <a:solidFill>
                  <a:srgbClr val="2C3E50"/>
                </a:solidFill>
                <a:latin typeface="Calibri" pitchFamily="34" charset="0"/>
                <a:ea typeface="Calibri" pitchFamily="34" charset="-122"/>
                <a:cs typeface="Calibri" pitchFamily="34" charset="-120"/>
              </a:rPr>
              <a:t>Research Gap</a:t>
            </a:r>
            <a:endParaRPr lang="en-US" sz="3600" dirty="0"/>
          </a:p>
        </p:txBody>
      </p:sp>
      <p:sp>
        <p:nvSpPr>
          <p:cNvPr id="4" name="Text 1"/>
          <p:cNvSpPr/>
          <p:nvPr/>
        </p:nvSpPr>
        <p:spPr>
          <a:xfrm>
            <a:off x="457200" y="1005840"/>
            <a:ext cx="8229600" cy="27432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Identified limitations in current multimodal detection systems:</a:t>
            </a:r>
            <a:endParaRPr lang="en-US" sz="1400" dirty="0"/>
          </a:p>
        </p:txBody>
      </p:sp>
      <p:sp>
        <p:nvSpPr>
          <p:cNvPr id="5" name="Shape 2"/>
          <p:cNvSpPr/>
          <p:nvPr/>
        </p:nvSpPr>
        <p:spPr>
          <a:xfrm>
            <a:off x="457200" y="1463040"/>
            <a:ext cx="8229600" cy="868680"/>
          </a:xfrm>
          <a:prstGeom prst="rect">
            <a:avLst/>
          </a:prstGeom>
          <a:solidFill>
            <a:srgbClr val="F5F5F5"/>
          </a:solidFill>
          <a:ln/>
          <a:effectLst>
            <a:outerShdw blurRad="76200" dist="25400" dir="8100000" algn="bl" rotWithShape="0">
              <a:srgbClr val="000000">
                <a:alpha val="8000"/>
              </a:srgbClr>
            </a:outerShdw>
          </a:effectLst>
        </p:spPr>
      </p:sp>
      <p:sp>
        <p:nvSpPr>
          <p:cNvPr id="6" name="Shape 3"/>
          <p:cNvSpPr/>
          <p:nvPr/>
        </p:nvSpPr>
        <p:spPr>
          <a:xfrm>
            <a:off x="457200" y="1463040"/>
            <a:ext cx="73152" cy="868680"/>
          </a:xfrm>
          <a:prstGeom prst="rect">
            <a:avLst/>
          </a:prstGeom>
          <a:solidFill>
            <a:srgbClr val="065A82"/>
          </a:solidFill>
          <a:ln/>
        </p:spPr>
      </p:sp>
      <p:sp>
        <p:nvSpPr>
          <p:cNvPr id="7" name="Text 4"/>
          <p:cNvSpPr/>
          <p:nvPr/>
        </p:nvSpPr>
        <p:spPr>
          <a:xfrm>
            <a:off x="731520" y="1600200"/>
            <a:ext cx="7772400" cy="594360"/>
          </a:xfrm>
          <a:prstGeom prst="rect">
            <a:avLst/>
          </a:prstGeom>
          <a:noFill/>
          <a:ln/>
        </p:spPr>
        <p:txBody>
          <a:bodyPr wrap="square" rtlCol="0" anchor="ctr"/>
          <a:lstStyle/>
          <a:p>
            <a:pPr marL="0" indent="0">
              <a:buNone/>
            </a:pPr>
            <a:r>
              <a:rPr lang="en-US" sz="1600" b="1" dirty="0">
                <a:solidFill>
                  <a:srgbClr val="2C3E50"/>
                </a:solidFill>
                <a:latin typeface="Calibri" pitchFamily="34" charset="0"/>
                <a:ea typeface="Calibri" pitchFamily="34" charset="-122"/>
                <a:cs typeface="Calibri" pitchFamily="34" charset="-120"/>
              </a:rPr>
              <a:t>Lack of Explicit Cross-Modal Inconsistency Modeling</a:t>
            </a:r>
            <a:endParaRPr lang="en-US" sz="1600" dirty="0"/>
          </a:p>
          <a:p>
            <a:pPr marL="0" indent="0">
              <a:buNone/>
            </a:pPr>
            <a:r>
              <a:rPr lang="en-US" sz="1300" dirty="0">
                <a:solidFill>
                  <a:srgbClr val="64748B"/>
                </a:solidFill>
                <a:latin typeface="Calibri" pitchFamily="34" charset="0"/>
                <a:ea typeface="Calibri" pitchFamily="34" charset="-122"/>
                <a:cs typeface="Calibri" pitchFamily="34" charset="-120"/>
              </a:rPr>
              <a:t>Existing systems focus on feature fusion but do not explicitly measure semantic discord between visual and textual content</a:t>
            </a:r>
            <a:endParaRPr lang="en-US" sz="1600" dirty="0"/>
          </a:p>
        </p:txBody>
      </p:sp>
      <p:sp>
        <p:nvSpPr>
          <p:cNvPr id="8" name="Shape 5"/>
          <p:cNvSpPr/>
          <p:nvPr/>
        </p:nvSpPr>
        <p:spPr>
          <a:xfrm>
            <a:off x="457200" y="2514600"/>
            <a:ext cx="8229600" cy="868680"/>
          </a:xfrm>
          <a:prstGeom prst="rect">
            <a:avLst/>
          </a:prstGeom>
          <a:solidFill>
            <a:srgbClr val="F5F5F5"/>
          </a:solidFill>
          <a:ln/>
          <a:effectLst>
            <a:outerShdw blurRad="76200" dist="25400" dir="8100000" algn="bl" rotWithShape="0">
              <a:srgbClr val="000000">
                <a:alpha val="8000"/>
              </a:srgbClr>
            </a:outerShdw>
          </a:effectLst>
        </p:spPr>
      </p:sp>
      <p:sp>
        <p:nvSpPr>
          <p:cNvPr id="9" name="Shape 6"/>
          <p:cNvSpPr/>
          <p:nvPr/>
        </p:nvSpPr>
        <p:spPr>
          <a:xfrm>
            <a:off x="457200" y="2514600"/>
            <a:ext cx="73152" cy="868680"/>
          </a:xfrm>
          <a:prstGeom prst="rect">
            <a:avLst/>
          </a:prstGeom>
          <a:solidFill>
            <a:srgbClr val="028090"/>
          </a:solidFill>
          <a:ln/>
        </p:spPr>
      </p:sp>
      <p:sp>
        <p:nvSpPr>
          <p:cNvPr id="10" name="Text 7"/>
          <p:cNvSpPr/>
          <p:nvPr/>
        </p:nvSpPr>
        <p:spPr>
          <a:xfrm>
            <a:off x="731520" y="2651760"/>
            <a:ext cx="7772400" cy="594360"/>
          </a:xfrm>
          <a:prstGeom prst="rect">
            <a:avLst/>
          </a:prstGeom>
          <a:noFill/>
          <a:ln/>
        </p:spPr>
        <p:txBody>
          <a:bodyPr wrap="square" rtlCol="0" anchor="ctr"/>
          <a:lstStyle/>
          <a:p>
            <a:pPr marL="0" indent="0">
              <a:buNone/>
            </a:pPr>
            <a:r>
              <a:rPr lang="en-US" sz="1600" b="1" dirty="0">
                <a:solidFill>
                  <a:srgbClr val="2C3E50"/>
                </a:solidFill>
                <a:latin typeface="Calibri" pitchFamily="34" charset="0"/>
                <a:ea typeface="Calibri" pitchFamily="34" charset="-122"/>
                <a:cs typeface="Calibri" pitchFamily="34" charset="-120"/>
              </a:rPr>
              <a:t>Limited Robustness Evaluation</a:t>
            </a:r>
            <a:endParaRPr lang="en-US" sz="1600" dirty="0"/>
          </a:p>
          <a:p>
            <a:pPr marL="0" indent="0">
              <a:buNone/>
            </a:pPr>
            <a:r>
              <a:rPr lang="en-US" sz="1300" dirty="0">
                <a:solidFill>
                  <a:srgbClr val="64748B"/>
                </a:solidFill>
                <a:latin typeface="Calibri" pitchFamily="34" charset="0"/>
                <a:ea typeface="Calibri" pitchFamily="34" charset="-122"/>
                <a:cs typeface="Calibri" pitchFamily="34" charset="-120"/>
              </a:rPr>
              <a:t>Few studies test model performance against adversarial manipulations such as minor image edits or paraphrased text</a:t>
            </a:r>
            <a:endParaRPr lang="en-US" sz="1600" dirty="0"/>
          </a:p>
        </p:txBody>
      </p:sp>
      <p:sp>
        <p:nvSpPr>
          <p:cNvPr id="11" name="Shape 8"/>
          <p:cNvSpPr/>
          <p:nvPr/>
        </p:nvSpPr>
        <p:spPr>
          <a:xfrm>
            <a:off x="457200" y="3566160"/>
            <a:ext cx="8229600" cy="868680"/>
          </a:xfrm>
          <a:prstGeom prst="rect">
            <a:avLst/>
          </a:prstGeom>
          <a:solidFill>
            <a:srgbClr val="F5F5F5"/>
          </a:solidFill>
          <a:ln/>
          <a:effectLst>
            <a:outerShdw blurRad="76200" dist="25400" dir="8100000" algn="bl" rotWithShape="0">
              <a:srgbClr val="000000">
                <a:alpha val="8000"/>
              </a:srgbClr>
            </a:outerShdw>
          </a:effectLst>
        </p:spPr>
      </p:sp>
      <p:sp>
        <p:nvSpPr>
          <p:cNvPr id="12" name="Shape 9"/>
          <p:cNvSpPr/>
          <p:nvPr/>
        </p:nvSpPr>
        <p:spPr>
          <a:xfrm>
            <a:off x="457200" y="3566160"/>
            <a:ext cx="73152" cy="868680"/>
          </a:xfrm>
          <a:prstGeom prst="rect">
            <a:avLst/>
          </a:prstGeom>
          <a:solidFill>
            <a:srgbClr val="00A896"/>
          </a:solidFill>
          <a:ln/>
        </p:spPr>
      </p:sp>
      <p:sp>
        <p:nvSpPr>
          <p:cNvPr id="13" name="Text 10"/>
          <p:cNvSpPr/>
          <p:nvPr/>
        </p:nvSpPr>
        <p:spPr>
          <a:xfrm>
            <a:off x="731520" y="3703320"/>
            <a:ext cx="7772400" cy="594360"/>
          </a:xfrm>
          <a:prstGeom prst="rect">
            <a:avLst/>
          </a:prstGeom>
          <a:noFill/>
          <a:ln/>
        </p:spPr>
        <p:txBody>
          <a:bodyPr wrap="square" rtlCol="0" anchor="ctr"/>
          <a:lstStyle/>
          <a:p>
            <a:pPr marL="0" indent="0">
              <a:buNone/>
            </a:pPr>
            <a:r>
              <a:rPr lang="en-US" sz="1600" b="1" dirty="0">
                <a:solidFill>
                  <a:srgbClr val="2C3E50"/>
                </a:solidFill>
                <a:latin typeface="Calibri" pitchFamily="34" charset="0"/>
                <a:ea typeface="Calibri" pitchFamily="34" charset="-122"/>
                <a:cs typeface="Calibri" pitchFamily="34" charset="-120"/>
              </a:rPr>
              <a:t>Lack of Explainability</a:t>
            </a:r>
            <a:endParaRPr lang="en-US" sz="1600" dirty="0"/>
          </a:p>
          <a:p>
            <a:pPr marL="0" indent="0">
              <a:buNone/>
            </a:pPr>
            <a:r>
              <a:rPr lang="en-US" sz="1300" dirty="0">
                <a:solidFill>
                  <a:srgbClr val="64748B"/>
                </a:solidFill>
                <a:latin typeface="Calibri" pitchFamily="34" charset="0"/>
                <a:ea typeface="Calibri" pitchFamily="34" charset="-122"/>
                <a:cs typeface="Calibri" pitchFamily="34" charset="-120"/>
              </a:rPr>
              <a:t>Black-box models provide predictions without highlighting which image-text discrepancies triggered the fake news classification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8229600" cy="365760"/>
          </a:xfrm>
          <a:prstGeom prst="rect">
            <a:avLst/>
          </a:prstGeom>
          <a:noFill/>
          <a:ln/>
        </p:spPr>
        <p:txBody>
          <a:bodyPr wrap="square" rtlCol="0" anchor="ctr"/>
          <a:lstStyle/>
          <a:p>
            <a:pPr marL="0" indent="0">
              <a:buNone/>
            </a:pPr>
            <a:r>
              <a:rPr lang="en-US" sz="3600" b="1" dirty="0">
                <a:solidFill>
                  <a:srgbClr val="2C3E50"/>
                </a:solidFill>
                <a:latin typeface="Calibri" pitchFamily="34" charset="0"/>
                <a:ea typeface="Calibri" pitchFamily="34" charset="-122"/>
                <a:cs typeface="Calibri" pitchFamily="34" charset="-120"/>
              </a:rPr>
              <a:t>Proposed Approach</a:t>
            </a:r>
            <a:endParaRPr lang="en-US" sz="3600" dirty="0"/>
          </a:p>
        </p:txBody>
      </p:sp>
      <p:sp>
        <p:nvSpPr>
          <p:cNvPr id="3" name="Text 1"/>
          <p:cNvSpPr/>
          <p:nvPr/>
        </p:nvSpPr>
        <p:spPr>
          <a:xfrm>
            <a:off x="457200" y="1005840"/>
            <a:ext cx="8229600" cy="274320"/>
          </a:xfrm>
          <a:prstGeom prst="rect">
            <a:avLst/>
          </a:prstGeom>
          <a:noFill/>
          <a:ln/>
        </p:spPr>
        <p:txBody>
          <a:bodyPr wrap="square" rtlCol="0" anchor="ctr"/>
          <a:lstStyle/>
          <a:p>
            <a:pPr marL="0" indent="0">
              <a:buNone/>
            </a:pPr>
            <a:r>
              <a:rPr lang="en-US" sz="1600" b="1" dirty="0">
                <a:solidFill>
                  <a:srgbClr val="2C3E50"/>
                </a:solidFill>
                <a:latin typeface="Calibri" pitchFamily="34" charset="0"/>
                <a:ea typeface="Calibri" pitchFamily="34" charset="-122"/>
                <a:cs typeface="Calibri" pitchFamily="34" charset="-120"/>
              </a:rPr>
              <a:t>Architecture Overview:</a:t>
            </a:r>
            <a:endParaRPr lang="en-US" sz="1600" dirty="0"/>
          </a:p>
        </p:txBody>
      </p:sp>
      <p:sp>
        <p:nvSpPr>
          <p:cNvPr id="4" name="Shape 2"/>
          <p:cNvSpPr/>
          <p:nvPr/>
        </p:nvSpPr>
        <p:spPr>
          <a:xfrm>
            <a:off x="457200" y="1463040"/>
            <a:ext cx="1828800" cy="640080"/>
          </a:xfrm>
          <a:prstGeom prst="rect">
            <a:avLst/>
          </a:prstGeom>
          <a:solidFill>
            <a:srgbClr val="E0F2FE"/>
          </a:solidFill>
          <a:ln/>
        </p:spPr>
      </p:sp>
      <p:sp>
        <p:nvSpPr>
          <p:cNvPr id="5" name="Text 3"/>
          <p:cNvSpPr/>
          <p:nvPr/>
        </p:nvSpPr>
        <p:spPr>
          <a:xfrm>
            <a:off x="457200" y="1463040"/>
            <a:ext cx="1828800" cy="640080"/>
          </a:xfrm>
          <a:prstGeom prst="rect">
            <a:avLst/>
          </a:prstGeom>
          <a:noFill/>
          <a:ln/>
        </p:spPr>
        <p:txBody>
          <a:bodyPr wrap="square" rtlCol="0" anchor="ctr"/>
          <a:lstStyle/>
          <a:p>
            <a:pPr marL="0" indent="0" algn="ctr">
              <a:buNone/>
            </a:pPr>
            <a:r>
              <a:rPr lang="en-US" sz="1200" b="1" dirty="0">
                <a:solidFill>
                  <a:srgbClr val="065A82"/>
                </a:solidFill>
                <a:latin typeface="Calibri" pitchFamily="34" charset="0"/>
                <a:ea typeface="Calibri" pitchFamily="34" charset="-122"/>
                <a:cs typeface="Calibri" pitchFamily="34" charset="-120"/>
              </a:rPr>
              <a:t>Image Encoder</a:t>
            </a:r>
            <a:endParaRPr lang="en-US" sz="1200" dirty="0"/>
          </a:p>
          <a:p>
            <a:pPr marL="0" indent="0" algn="ctr">
              <a:buNone/>
            </a:pPr>
            <a:r>
              <a:rPr lang="en-US" sz="1200" b="1" dirty="0">
                <a:solidFill>
                  <a:srgbClr val="065A82"/>
                </a:solidFill>
                <a:latin typeface="Calibri" pitchFamily="34" charset="0"/>
                <a:ea typeface="Calibri" pitchFamily="34" charset="-122"/>
                <a:cs typeface="Calibri" pitchFamily="34" charset="-120"/>
              </a:rPr>
              <a:t>(CLIP/BLIP)</a:t>
            </a:r>
            <a:endParaRPr lang="en-US" sz="1200" dirty="0"/>
          </a:p>
        </p:txBody>
      </p:sp>
      <p:sp>
        <p:nvSpPr>
          <p:cNvPr id="6" name="Shape 4"/>
          <p:cNvSpPr/>
          <p:nvPr/>
        </p:nvSpPr>
        <p:spPr>
          <a:xfrm>
            <a:off x="2560320" y="1463040"/>
            <a:ext cx="1828800" cy="640080"/>
          </a:xfrm>
          <a:prstGeom prst="rect">
            <a:avLst/>
          </a:prstGeom>
          <a:solidFill>
            <a:srgbClr val="CCFBF1"/>
          </a:solidFill>
          <a:ln/>
        </p:spPr>
      </p:sp>
      <p:sp>
        <p:nvSpPr>
          <p:cNvPr id="7" name="Text 5"/>
          <p:cNvSpPr/>
          <p:nvPr/>
        </p:nvSpPr>
        <p:spPr>
          <a:xfrm>
            <a:off x="2560320" y="1463040"/>
            <a:ext cx="1828800" cy="640080"/>
          </a:xfrm>
          <a:prstGeom prst="rect">
            <a:avLst/>
          </a:prstGeom>
          <a:noFill/>
          <a:ln/>
        </p:spPr>
        <p:txBody>
          <a:bodyPr wrap="square" rtlCol="0" anchor="ctr"/>
          <a:lstStyle/>
          <a:p>
            <a:pPr marL="0" indent="0" algn="ctr">
              <a:buNone/>
            </a:pPr>
            <a:r>
              <a:rPr lang="en-US" sz="1200" b="1" dirty="0">
                <a:solidFill>
                  <a:srgbClr val="028090"/>
                </a:solidFill>
                <a:latin typeface="Calibri" pitchFamily="34" charset="0"/>
                <a:ea typeface="Calibri" pitchFamily="34" charset="-122"/>
                <a:cs typeface="Calibri" pitchFamily="34" charset="-120"/>
              </a:rPr>
              <a:t>Text Encoder</a:t>
            </a:r>
            <a:endParaRPr lang="en-US" sz="1200" dirty="0"/>
          </a:p>
          <a:p>
            <a:pPr marL="0" indent="0" algn="ctr">
              <a:buNone/>
            </a:pPr>
            <a:r>
              <a:rPr lang="en-US" sz="1200" b="1" dirty="0">
                <a:solidFill>
                  <a:srgbClr val="028090"/>
                </a:solidFill>
                <a:latin typeface="Calibri" pitchFamily="34" charset="0"/>
                <a:ea typeface="Calibri" pitchFamily="34" charset="-122"/>
                <a:cs typeface="Calibri" pitchFamily="34" charset="-120"/>
              </a:rPr>
              <a:t>(BERT/LLM)</a:t>
            </a:r>
            <a:endParaRPr lang="en-US" sz="1200" dirty="0"/>
          </a:p>
        </p:txBody>
      </p:sp>
      <p:sp>
        <p:nvSpPr>
          <p:cNvPr id="8" name="Shape 6"/>
          <p:cNvSpPr/>
          <p:nvPr/>
        </p:nvSpPr>
        <p:spPr>
          <a:xfrm>
            <a:off x="1371600" y="2240280"/>
            <a:ext cx="27432" cy="457200"/>
          </a:xfrm>
          <a:prstGeom prst="rect">
            <a:avLst/>
          </a:prstGeom>
          <a:solidFill>
            <a:srgbClr val="1E2761"/>
          </a:solidFill>
          <a:ln/>
        </p:spPr>
      </p:sp>
      <p:sp>
        <p:nvSpPr>
          <p:cNvPr id="9" name="Shape 7"/>
          <p:cNvSpPr/>
          <p:nvPr/>
        </p:nvSpPr>
        <p:spPr>
          <a:xfrm>
            <a:off x="3474720" y="2240280"/>
            <a:ext cx="27432" cy="457200"/>
          </a:xfrm>
          <a:prstGeom prst="rect">
            <a:avLst/>
          </a:prstGeom>
          <a:solidFill>
            <a:srgbClr val="1E2761"/>
          </a:solidFill>
          <a:ln/>
        </p:spPr>
      </p:sp>
      <p:sp>
        <p:nvSpPr>
          <p:cNvPr id="10" name="Shape 8"/>
          <p:cNvSpPr/>
          <p:nvPr/>
        </p:nvSpPr>
        <p:spPr>
          <a:xfrm>
            <a:off x="457200" y="2788920"/>
            <a:ext cx="3931920" cy="777240"/>
          </a:xfrm>
          <a:prstGeom prst="rect">
            <a:avLst/>
          </a:prstGeom>
          <a:solidFill>
            <a:srgbClr val="00A896"/>
          </a:solidFill>
          <a:ln/>
          <a:effectLst>
            <a:outerShdw blurRad="76200" dist="25400" dir="8100000" algn="bl" rotWithShape="0">
              <a:srgbClr val="000000">
                <a:alpha val="8000"/>
              </a:srgbClr>
            </a:outerShdw>
          </a:effectLst>
        </p:spPr>
      </p:sp>
      <p:sp>
        <p:nvSpPr>
          <p:cNvPr id="11" name="Text 9"/>
          <p:cNvSpPr/>
          <p:nvPr/>
        </p:nvSpPr>
        <p:spPr>
          <a:xfrm>
            <a:off x="457200" y="2880360"/>
            <a:ext cx="3931920" cy="2743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Cross-Modal Inconsistency Scoring</a:t>
            </a:r>
            <a:endParaRPr lang="en-US" sz="1400" dirty="0"/>
          </a:p>
        </p:txBody>
      </p:sp>
      <p:sp>
        <p:nvSpPr>
          <p:cNvPr id="12" name="Text 10"/>
          <p:cNvSpPr/>
          <p:nvPr/>
        </p:nvSpPr>
        <p:spPr>
          <a:xfrm>
            <a:off x="457200" y="3200400"/>
            <a:ext cx="3931920" cy="274320"/>
          </a:xfrm>
          <a:prstGeom prst="rect">
            <a:avLst/>
          </a:prstGeom>
          <a:noFill/>
          <a:ln/>
        </p:spPr>
        <p:txBody>
          <a:bodyPr wrap="square" rtlCol="0" anchor="ctr"/>
          <a:lstStyle/>
          <a:p>
            <a:pPr marL="0" indent="0" algn="ctr">
              <a:buNone/>
            </a:pPr>
            <a:r>
              <a:rPr lang="en-US" sz="1100" dirty="0">
                <a:solidFill>
                  <a:srgbClr val="E0F2FE"/>
                </a:solidFill>
                <a:latin typeface="Calibri" pitchFamily="34" charset="0"/>
                <a:ea typeface="Calibri" pitchFamily="34" charset="-122"/>
                <a:cs typeface="Calibri" pitchFamily="34" charset="-120"/>
              </a:rPr>
              <a:t>Cosine similarity, attention weights, semantic divergence</a:t>
            </a:r>
            <a:endParaRPr lang="en-US" sz="1100" dirty="0"/>
          </a:p>
        </p:txBody>
      </p:sp>
      <p:sp>
        <p:nvSpPr>
          <p:cNvPr id="13" name="Shape 11"/>
          <p:cNvSpPr/>
          <p:nvPr/>
        </p:nvSpPr>
        <p:spPr>
          <a:xfrm>
            <a:off x="2400300" y="3611880"/>
            <a:ext cx="27432" cy="365760"/>
          </a:xfrm>
          <a:prstGeom prst="rect">
            <a:avLst/>
          </a:prstGeom>
          <a:solidFill>
            <a:srgbClr val="1E2761"/>
          </a:solidFill>
          <a:ln/>
        </p:spPr>
      </p:sp>
      <p:sp>
        <p:nvSpPr>
          <p:cNvPr id="14" name="Shape 12"/>
          <p:cNvSpPr/>
          <p:nvPr/>
        </p:nvSpPr>
        <p:spPr>
          <a:xfrm>
            <a:off x="914400" y="4023360"/>
            <a:ext cx="3017520" cy="548640"/>
          </a:xfrm>
          <a:prstGeom prst="rect">
            <a:avLst/>
          </a:prstGeom>
          <a:solidFill>
            <a:srgbClr val="1E2761"/>
          </a:solidFill>
          <a:ln/>
        </p:spPr>
      </p:sp>
      <p:sp>
        <p:nvSpPr>
          <p:cNvPr id="15" name="Text 13"/>
          <p:cNvSpPr/>
          <p:nvPr/>
        </p:nvSpPr>
        <p:spPr>
          <a:xfrm>
            <a:off x="914400" y="4023360"/>
            <a:ext cx="301752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Classification Layer (Real/Fake)</a:t>
            </a:r>
            <a:endParaRPr lang="en-US" sz="1300" dirty="0"/>
          </a:p>
        </p:txBody>
      </p:sp>
      <p:sp>
        <p:nvSpPr>
          <p:cNvPr id="16" name="Shape 14"/>
          <p:cNvSpPr/>
          <p:nvPr/>
        </p:nvSpPr>
        <p:spPr>
          <a:xfrm>
            <a:off x="4846320" y="1463040"/>
            <a:ext cx="3840480" cy="3108960"/>
          </a:xfrm>
          <a:prstGeom prst="rect">
            <a:avLst/>
          </a:prstGeom>
          <a:solidFill>
            <a:srgbClr val="FFF4E6"/>
          </a:solidFill>
          <a:ln/>
          <a:effectLst>
            <a:outerShdw blurRad="76200" dist="25400" dir="8100000" algn="bl" rotWithShape="0">
              <a:srgbClr val="000000">
                <a:alpha val="8000"/>
              </a:srgbClr>
            </a:outerShdw>
          </a:effectLst>
        </p:spPr>
      </p:sp>
      <p:sp>
        <p:nvSpPr>
          <p:cNvPr id="17" name="Text 15"/>
          <p:cNvSpPr/>
          <p:nvPr/>
        </p:nvSpPr>
        <p:spPr>
          <a:xfrm>
            <a:off x="5029200" y="1645920"/>
            <a:ext cx="3474720" cy="274320"/>
          </a:xfrm>
          <a:prstGeom prst="rect">
            <a:avLst/>
          </a:prstGeom>
          <a:noFill/>
          <a:ln/>
        </p:spPr>
        <p:txBody>
          <a:bodyPr wrap="square"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Optional Component:</a:t>
            </a:r>
            <a:endParaRPr lang="en-US" sz="1400" dirty="0"/>
          </a:p>
        </p:txBody>
      </p:sp>
      <p:sp>
        <p:nvSpPr>
          <p:cNvPr id="18" name="Text 16"/>
          <p:cNvSpPr/>
          <p:nvPr/>
        </p:nvSpPr>
        <p:spPr>
          <a:xfrm>
            <a:off x="5029200" y="2011680"/>
            <a:ext cx="3474720" cy="274320"/>
          </a:xfrm>
          <a:prstGeom prst="rect">
            <a:avLst/>
          </a:prstGeom>
          <a:noFill/>
          <a:ln/>
        </p:spPr>
        <p:txBody>
          <a:bodyPr wrap="square" rtlCol="0" anchor="ctr"/>
          <a:lstStyle/>
          <a:p>
            <a:pPr marL="0" indent="0">
              <a:buNone/>
            </a:pPr>
            <a:r>
              <a:rPr lang="en-US" sz="1600" b="1" dirty="0">
                <a:solidFill>
                  <a:srgbClr val="2C3E50"/>
                </a:solidFill>
                <a:latin typeface="Calibri" pitchFamily="34" charset="0"/>
                <a:ea typeface="Calibri" pitchFamily="34" charset="-122"/>
                <a:cs typeface="Calibri" pitchFamily="34" charset="-120"/>
              </a:rPr>
              <a:t>Explainability Module</a:t>
            </a:r>
            <a:endParaRPr lang="en-US" sz="1600" dirty="0"/>
          </a:p>
        </p:txBody>
      </p:sp>
      <p:sp>
        <p:nvSpPr>
          <p:cNvPr id="19" name="Text 17"/>
          <p:cNvSpPr/>
          <p:nvPr/>
        </p:nvSpPr>
        <p:spPr>
          <a:xfrm>
            <a:off x="5029200" y="2468880"/>
            <a:ext cx="3474720" cy="1645920"/>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 Attention visualization</a:t>
            </a:r>
            <a:endParaRPr lang="en-US" sz="1200" dirty="0"/>
          </a:p>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 Highlight mismatched regions</a:t>
            </a:r>
            <a:endParaRPr lang="en-US" sz="1200" dirty="0"/>
          </a:p>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 Generate natural language explanations</a:t>
            </a:r>
            <a:endParaRPr lang="en-US" sz="1200" dirty="0"/>
          </a:p>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 Improve user trust and transparency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8229600" cy="365760"/>
          </a:xfrm>
          <a:prstGeom prst="rect">
            <a:avLst/>
          </a:prstGeom>
          <a:noFill/>
          <a:ln/>
        </p:spPr>
        <p:txBody>
          <a:bodyPr wrap="square" rtlCol="0" anchor="ctr"/>
          <a:lstStyle/>
          <a:p>
            <a:pPr marL="0" indent="0">
              <a:buNone/>
            </a:pPr>
            <a:r>
              <a:rPr lang="en-US" sz="3600" b="1" dirty="0">
                <a:solidFill>
                  <a:srgbClr val="2C3E50"/>
                </a:solidFill>
                <a:latin typeface="Calibri" pitchFamily="34" charset="0"/>
                <a:ea typeface="Calibri" pitchFamily="34" charset="-122"/>
                <a:cs typeface="Calibri" pitchFamily="34" charset="-120"/>
              </a:rPr>
              <a:t>Research Questions</a:t>
            </a:r>
            <a:endParaRPr lang="en-US" sz="3600" dirty="0"/>
          </a:p>
        </p:txBody>
      </p:sp>
      <p:sp>
        <p:nvSpPr>
          <p:cNvPr id="3" name="Shape 1"/>
          <p:cNvSpPr/>
          <p:nvPr/>
        </p:nvSpPr>
        <p:spPr>
          <a:xfrm>
            <a:off x="457200" y="1188720"/>
            <a:ext cx="8229600" cy="777240"/>
          </a:xfrm>
          <a:prstGeom prst="rect">
            <a:avLst/>
          </a:prstGeom>
          <a:solidFill>
            <a:srgbClr val="F5F5F5"/>
          </a:solidFill>
          <a:ln/>
          <a:effectLst>
            <a:outerShdw blurRad="76200" dist="25400" dir="8100000" algn="bl" rotWithShape="0">
              <a:srgbClr val="000000">
                <a:alpha val="8000"/>
              </a:srgbClr>
            </a:outerShdw>
          </a:effectLst>
        </p:spPr>
      </p:sp>
      <p:sp>
        <p:nvSpPr>
          <p:cNvPr id="4" name="Text 2"/>
          <p:cNvSpPr/>
          <p:nvPr/>
        </p:nvSpPr>
        <p:spPr>
          <a:xfrm>
            <a:off x="548640" y="1280160"/>
            <a:ext cx="548640" cy="548640"/>
          </a:xfrm>
          <a:prstGeom prst="rect">
            <a:avLst/>
          </a:prstGeom>
          <a:solidFill>
            <a:srgbClr val="065A82"/>
          </a:solid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RQ1</a:t>
            </a:r>
            <a:endParaRPr lang="en-US" sz="2000" dirty="0"/>
          </a:p>
        </p:txBody>
      </p:sp>
      <p:sp>
        <p:nvSpPr>
          <p:cNvPr id="5" name="Text 3"/>
          <p:cNvSpPr/>
          <p:nvPr/>
        </p:nvSpPr>
        <p:spPr>
          <a:xfrm>
            <a:off x="1280160" y="1325880"/>
            <a:ext cx="7315200" cy="594360"/>
          </a:xfrm>
          <a:prstGeom prst="rect">
            <a:avLst/>
          </a:prstGeom>
          <a:noFill/>
          <a:ln/>
        </p:spPr>
        <p:txBody>
          <a:bodyPr wrap="square" rtlCol="0" anchor="ctr"/>
          <a:lstStyle/>
          <a:p>
            <a:pPr marL="0" indent="0">
              <a:buNone/>
            </a:pPr>
            <a:r>
              <a:rPr lang="en-US" sz="1400" dirty="0">
                <a:solidFill>
                  <a:srgbClr val="2C3E50"/>
                </a:solidFill>
                <a:latin typeface="Calibri" pitchFamily="34" charset="0"/>
                <a:ea typeface="Calibri" pitchFamily="34" charset="-122"/>
                <a:cs typeface="Calibri" pitchFamily="34" charset="-120"/>
              </a:rPr>
              <a:t>Does explicit cross-modal inconsistency modeling improve detection accuracy compared to standard fusion approaches?</a:t>
            </a:r>
            <a:endParaRPr lang="en-US" sz="1400" dirty="0"/>
          </a:p>
        </p:txBody>
      </p:sp>
      <p:sp>
        <p:nvSpPr>
          <p:cNvPr id="6" name="Shape 4"/>
          <p:cNvSpPr/>
          <p:nvPr/>
        </p:nvSpPr>
        <p:spPr>
          <a:xfrm>
            <a:off x="457200" y="2148840"/>
            <a:ext cx="8229600" cy="777240"/>
          </a:xfrm>
          <a:prstGeom prst="rect">
            <a:avLst/>
          </a:prstGeom>
          <a:solidFill>
            <a:srgbClr val="F5F5F5"/>
          </a:solidFill>
          <a:ln/>
          <a:effectLst>
            <a:outerShdw blurRad="76200" dist="25400" dir="8100000" algn="bl" rotWithShape="0">
              <a:srgbClr val="000000">
                <a:alpha val="8000"/>
              </a:srgbClr>
            </a:outerShdw>
          </a:effectLst>
        </p:spPr>
      </p:sp>
      <p:sp>
        <p:nvSpPr>
          <p:cNvPr id="7" name="Text 5"/>
          <p:cNvSpPr/>
          <p:nvPr/>
        </p:nvSpPr>
        <p:spPr>
          <a:xfrm>
            <a:off x="548640" y="2240280"/>
            <a:ext cx="548640" cy="548640"/>
          </a:xfrm>
          <a:prstGeom prst="rect">
            <a:avLst/>
          </a:prstGeom>
          <a:solidFill>
            <a:srgbClr val="028090"/>
          </a:solid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RQ2</a:t>
            </a:r>
            <a:endParaRPr lang="en-US" sz="2000" dirty="0"/>
          </a:p>
        </p:txBody>
      </p:sp>
      <p:sp>
        <p:nvSpPr>
          <p:cNvPr id="8" name="Text 6"/>
          <p:cNvSpPr/>
          <p:nvPr/>
        </p:nvSpPr>
        <p:spPr>
          <a:xfrm>
            <a:off x="1280160" y="2286000"/>
            <a:ext cx="7315200" cy="594360"/>
          </a:xfrm>
          <a:prstGeom prst="rect">
            <a:avLst/>
          </a:prstGeom>
          <a:noFill/>
          <a:ln/>
        </p:spPr>
        <p:txBody>
          <a:bodyPr wrap="square" rtlCol="0" anchor="ctr"/>
          <a:lstStyle/>
          <a:p>
            <a:pPr marL="0" indent="0">
              <a:buNone/>
            </a:pPr>
            <a:r>
              <a:rPr lang="en-US" sz="1400" dirty="0">
                <a:solidFill>
                  <a:srgbClr val="2C3E50"/>
                </a:solidFill>
                <a:latin typeface="Calibri" pitchFamily="34" charset="0"/>
                <a:ea typeface="Calibri" pitchFamily="34" charset="-122"/>
                <a:cs typeface="Calibri" pitchFamily="34" charset="-120"/>
              </a:rPr>
              <a:t>How does the multimodal approach compare to text-only baseline models in fake news detection?</a:t>
            </a:r>
            <a:endParaRPr lang="en-US" sz="1400" dirty="0"/>
          </a:p>
        </p:txBody>
      </p:sp>
      <p:sp>
        <p:nvSpPr>
          <p:cNvPr id="9" name="Shape 7"/>
          <p:cNvSpPr/>
          <p:nvPr/>
        </p:nvSpPr>
        <p:spPr>
          <a:xfrm>
            <a:off x="457200" y="3108960"/>
            <a:ext cx="8229600" cy="777240"/>
          </a:xfrm>
          <a:prstGeom prst="rect">
            <a:avLst/>
          </a:prstGeom>
          <a:solidFill>
            <a:srgbClr val="F5F5F5"/>
          </a:solidFill>
          <a:ln/>
          <a:effectLst>
            <a:outerShdw blurRad="76200" dist="25400" dir="8100000" algn="bl" rotWithShape="0">
              <a:srgbClr val="000000">
                <a:alpha val="8000"/>
              </a:srgbClr>
            </a:outerShdw>
          </a:effectLst>
        </p:spPr>
      </p:sp>
      <p:sp>
        <p:nvSpPr>
          <p:cNvPr id="10" name="Text 8"/>
          <p:cNvSpPr/>
          <p:nvPr/>
        </p:nvSpPr>
        <p:spPr>
          <a:xfrm>
            <a:off x="548640" y="3200400"/>
            <a:ext cx="548640" cy="548640"/>
          </a:xfrm>
          <a:prstGeom prst="rect">
            <a:avLst/>
          </a:prstGeom>
          <a:solidFill>
            <a:srgbClr val="00A896"/>
          </a:solid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RQ3</a:t>
            </a:r>
            <a:endParaRPr lang="en-US" sz="2000" dirty="0"/>
          </a:p>
        </p:txBody>
      </p:sp>
      <p:sp>
        <p:nvSpPr>
          <p:cNvPr id="11" name="Text 9"/>
          <p:cNvSpPr/>
          <p:nvPr/>
        </p:nvSpPr>
        <p:spPr>
          <a:xfrm>
            <a:off x="1280160" y="3246120"/>
            <a:ext cx="7315200" cy="594360"/>
          </a:xfrm>
          <a:prstGeom prst="rect">
            <a:avLst/>
          </a:prstGeom>
          <a:noFill/>
          <a:ln/>
        </p:spPr>
        <p:txBody>
          <a:bodyPr wrap="square" rtlCol="0" anchor="ctr"/>
          <a:lstStyle/>
          <a:p>
            <a:pPr marL="0" indent="0">
              <a:buNone/>
            </a:pPr>
            <a:r>
              <a:rPr lang="en-US" sz="1400" dirty="0">
                <a:solidFill>
                  <a:srgbClr val="2C3E50"/>
                </a:solidFill>
                <a:latin typeface="Calibri" pitchFamily="34" charset="0"/>
                <a:ea typeface="Calibri" pitchFamily="34" charset="-122"/>
                <a:cs typeface="Calibri" pitchFamily="34" charset="-120"/>
              </a:rPr>
              <a:t>How robust is the system against adversarial modifications such as image cropping or text paraphrasing?</a:t>
            </a:r>
            <a:endParaRPr lang="en-US" sz="1400" dirty="0"/>
          </a:p>
        </p:txBody>
      </p:sp>
      <p:sp>
        <p:nvSpPr>
          <p:cNvPr id="12" name="Shape 10"/>
          <p:cNvSpPr/>
          <p:nvPr/>
        </p:nvSpPr>
        <p:spPr>
          <a:xfrm>
            <a:off x="457200" y="4069080"/>
            <a:ext cx="8229600" cy="777240"/>
          </a:xfrm>
          <a:prstGeom prst="rect">
            <a:avLst/>
          </a:prstGeom>
          <a:solidFill>
            <a:srgbClr val="F5F5F5"/>
          </a:solidFill>
          <a:ln/>
          <a:effectLst>
            <a:outerShdw blurRad="76200" dist="25400" dir="8100000" algn="bl" rotWithShape="0">
              <a:srgbClr val="000000">
                <a:alpha val="8000"/>
              </a:srgbClr>
            </a:outerShdw>
          </a:effectLst>
        </p:spPr>
      </p:sp>
      <p:sp>
        <p:nvSpPr>
          <p:cNvPr id="13" name="Text 11"/>
          <p:cNvSpPr/>
          <p:nvPr/>
        </p:nvSpPr>
        <p:spPr>
          <a:xfrm>
            <a:off x="548640" y="4160520"/>
            <a:ext cx="548640" cy="548640"/>
          </a:xfrm>
          <a:prstGeom prst="rect">
            <a:avLst/>
          </a:prstGeom>
          <a:solidFill>
            <a:srgbClr val="1E2761"/>
          </a:solid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RQ4</a:t>
            </a:r>
            <a:endParaRPr lang="en-US" sz="2000" dirty="0"/>
          </a:p>
        </p:txBody>
      </p:sp>
      <p:sp>
        <p:nvSpPr>
          <p:cNvPr id="14" name="Text 12"/>
          <p:cNvSpPr/>
          <p:nvPr/>
        </p:nvSpPr>
        <p:spPr>
          <a:xfrm>
            <a:off x="1280160" y="4206240"/>
            <a:ext cx="7315200" cy="594360"/>
          </a:xfrm>
          <a:prstGeom prst="rect">
            <a:avLst/>
          </a:prstGeom>
          <a:noFill/>
          <a:ln/>
        </p:spPr>
        <p:txBody>
          <a:bodyPr wrap="square" rtlCol="0" anchor="ctr"/>
          <a:lstStyle/>
          <a:p>
            <a:pPr marL="0" indent="0">
              <a:buNone/>
            </a:pPr>
            <a:r>
              <a:rPr lang="en-US" sz="1400" dirty="0">
                <a:solidFill>
                  <a:srgbClr val="2C3E50"/>
                </a:solidFill>
                <a:latin typeface="Calibri" pitchFamily="34" charset="0"/>
                <a:ea typeface="Calibri" pitchFamily="34" charset="-122"/>
                <a:cs typeface="Calibri" pitchFamily="34" charset="-120"/>
              </a:rPr>
              <a:t>Can explainability features improve user trust and model interpretability in real-world deployment?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65760"/>
            <a:ext cx="365760" cy="365760"/>
          </a:xfrm>
          <a:prstGeom prst="rect">
            <a:avLst/>
          </a:prstGeom>
        </p:spPr>
      </p:pic>
      <p:sp>
        <p:nvSpPr>
          <p:cNvPr id="3" name="Text 0"/>
          <p:cNvSpPr/>
          <p:nvPr/>
        </p:nvSpPr>
        <p:spPr>
          <a:xfrm>
            <a:off x="914400" y="411480"/>
            <a:ext cx="7772400" cy="365760"/>
          </a:xfrm>
          <a:prstGeom prst="rect">
            <a:avLst/>
          </a:prstGeom>
          <a:noFill/>
          <a:ln/>
        </p:spPr>
        <p:txBody>
          <a:bodyPr wrap="square" lIns="0" tIns="0" rIns="0" bIns="0" rtlCol="0" anchor="ctr"/>
          <a:lstStyle/>
          <a:p>
            <a:pPr marL="0" indent="0">
              <a:buNone/>
            </a:pPr>
            <a:r>
              <a:rPr lang="en-US" sz="3600" b="1" dirty="0">
                <a:solidFill>
                  <a:srgbClr val="2C3E50"/>
                </a:solidFill>
                <a:latin typeface="Calibri" pitchFamily="34" charset="0"/>
                <a:ea typeface="Calibri" pitchFamily="34" charset="-122"/>
                <a:cs typeface="Calibri" pitchFamily="34" charset="-120"/>
              </a:rPr>
              <a:t>Datasets (2024-2025)</a:t>
            </a:r>
            <a:endParaRPr lang="en-US" sz="3600" dirty="0"/>
          </a:p>
        </p:txBody>
      </p:sp>
      <p:sp>
        <p:nvSpPr>
          <p:cNvPr id="4" name="Shape 1"/>
          <p:cNvSpPr/>
          <p:nvPr/>
        </p:nvSpPr>
        <p:spPr>
          <a:xfrm>
            <a:off x="457200" y="1097280"/>
            <a:ext cx="4114800" cy="960120"/>
          </a:xfrm>
          <a:prstGeom prst="rect">
            <a:avLst/>
          </a:prstGeom>
          <a:solidFill>
            <a:srgbClr val="F5F5F5"/>
          </a:solidFill>
          <a:ln/>
          <a:effectLst>
            <a:outerShdw blurRad="76200" dist="25400" dir="8100000" algn="bl" rotWithShape="0">
              <a:srgbClr val="000000">
                <a:alpha val="8000"/>
              </a:srgbClr>
            </a:outerShdw>
          </a:effectLst>
        </p:spPr>
      </p:sp>
      <p:sp>
        <p:nvSpPr>
          <p:cNvPr id="5" name="Text 2"/>
          <p:cNvSpPr/>
          <p:nvPr/>
        </p:nvSpPr>
        <p:spPr>
          <a:xfrm>
            <a:off x="640080" y="1234440"/>
            <a:ext cx="3749040" cy="274320"/>
          </a:xfrm>
          <a:prstGeom prst="rect">
            <a:avLst/>
          </a:prstGeom>
          <a:noFill/>
          <a:ln/>
        </p:spPr>
        <p:txBody>
          <a:bodyPr wrap="square"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MiRAGeNews (EMNLP 2024)</a:t>
            </a:r>
            <a:endParaRPr lang="en-US" sz="1500" dirty="0"/>
          </a:p>
        </p:txBody>
      </p:sp>
      <p:sp>
        <p:nvSpPr>
          <p:cNvPr id="6" name="Text 3"/>
          <p:cNvSpPr/>
          <p:nvPr/>
        </p:nvSpPr>
        <p:spPr>
          <a:xfrm>
            <a:off x="640080" y="1554480"/>
            <a:ext cx="3749040" cy="365760"/>
          </a:xfrm>
          <a:prstGeom prst="rect">
            <a:avLst/>
          </a:prstGeom>
          <a:noFill/>
          <a:ln/>
        </p:spPr>
        <p:txBody>
          <a:bodyPr wrap="square" rtlCol="0" anchor="ctr"/>
          <a:lstStyle/>
          <a:p>
            <a:r>
              <a:rPr lang="en-US" sz="1200" dirty="0">
                <a:solidFill>
                  <a:srgbClr val="64748B"/>
                </a:solidFill>
                <a:latin typeface="Calibri" pitchFamily="34" charset="0"/>
                <a:ea typeface="Calibri" pitchFamily="34" charset="-122"/>
                <a:cs typeface="Calibri" pitchFamily="34" charset="-120"/>
              </a:rPr>
              <a:t>Multimodal fake news with real-world manipulated images and misleading captions – </a:t>
            </a:r>
          </a:p>
          <a:p>
            <a:r>
              <a:rPr lang="en-US" sz="900" dirty="0">
                <a:solidFill>
                  <a:srgbClr val="64748B"/>
                </a:solidFill>
                <a:latin typeface="Calibri" pitchFamily="34" charset="0"/>
                <a:ea typeface="Calibri" pitchFamily="34" charset="-122"/>
                <a:cs typeface="Calibri" pitchFamily="34" charset="-120"/>
              </a:rPr>
              <a:t>( </a:t>
            </a:r>
            <a:r>
              <a:rPr lang="en-US" sz="900" dirty="0">
                <a:solidFill>
                  <a:srgbClr val="64748B"/>
                </a:solidFill>
                <a:latin typeface="Calibri" pitchFamily="34" charset="0"/>
                <a:ea typeface="Calibri" pitchFamily="34" charset="-122"/>
                <a:cs typeface="Calibri" pitchFamily="34" charset="-120"/>
                <a:hlinkClick r:id="rId4"/>
              </a:rPr>
              <a:t>https://aclanthology.org/2024.findings-emnlp.959</a:t>
            </a:r>
            <a:r>
              <a:rPr lang="en-US" sz="900" dirty="0">
                <a:solidFill>
                  <a:srgbClr val="64748B"/>
                </a:solidFill>
                <a:latin typeface="Calibri" pitchFamily="34" charset="0"/>
                <a:ea typeface="Calibri" pitchFamily="34" charset="-122"/>
                <a:cs typeface="Calibri" pitchFamily="34" charset="-120"/>
              </a:rPr>
              <a:t> )</a:t>
            </a:r>
            <a:endParaRPr lang="en-US" sz="900" dirty="0"/>
          </a:p>
        </p:txBody>
      </p:sp>
      <p:sp>
        <p:nvSpPr>
          <p:cNvPr id="7" name="Shape 4"/>
          <p:cNvSpPr/>
          <p:nvPr/>
        </p:nvSpPr>
        <p:spPr>
          <a:xfrm>
            <a:off x="4572000" y="1097280"/>
            <a:ext cx="4114800" cy="960120"/>
          </a:xfrm>
          <a:prstGeom prst="rect">
            <a:avLst/>
          </a:prstGeom>
          <a:solidFill>
            <a:srgbClr val="F5F5F5"/>
          </a:solidFill>
          <a:ln/>
          <a:effectLst>
            <a:outerShdw blurRad="76200" dist="25400" dir="8100000" algn="bl" rotWithShape="0">
              <a:srgbClr val="000000">
                <a:alpha val="8000"/>
              </a:srgbClr>
            </a:outerShdw>
          </a:effectLst>
        </p:spPr>
      </p:sp>
      <p:sp>
        <p:nvSpPr>
          <p:cNvPr id="8" name="Text 5"/>
          <p:cNvSpPr/>
          <p:nvPr/>
        </p:nvSpPr>
        <p:spPr>
          <a:xfrm>
            <a:off x="4754880" y="1234440"/>
            <a:ext cx="3749040" cy="274320"/>
          </a:xfrm>
          <a:prstGeom prst="rect">
            <a:avLst/>
          </a:prstGeom>
          <a:noFill/>
          <a:ln/>
        </p:spPr>
        <p:txBody>
          <a:bodyPr wrap="square"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MMFakeBench (ICLR 2025)</a:t>
            </a:r>
            <a:endParaRPr lang="en-US" sz="1500" dirty="0"/>
          </a:p>
        </p:txBody>
      </p:sp>
      <p:sp>
        <p:nvSpPr>
          <p:cNvPr id="9" name="Text 6"/>
          <p:cNvSpPr/>
          <p:nvPr/>
        </p:nvSpPr>
        <p:spPr>
          <a:xfrm>
            <a:off x="4754880" y="1554480"/>
            <a:ext cx="3749040" cy="365760"/>
          </a:xfrm>
          <a:prstGeom prst="rect">
            <a:avLst/>
          </a:prstGeom>
          <a:noFill/>
          <a:ln/>
        </p:spPr>
        <p:txBody>
          <a:bodyPr wrap="square" rtlCol="0" anchor="ctr"/>
          <a:lstStyle/>
          <a:p>
            <a:r>
              <a:rPr lang="en-US" sz="1200" dirty="0">
                <a:solidFill>
                  <a:srgbClr val="64748B"/>
                </a:solidFill>
                <a:latin typeface="Calibri" pitchFamily="34" charset="0"/>
                <a:ea typeface="Calibri" pitchFamily="34" charset="-122"/>
                <a:cs typeface="Calibri" pitchFamily="34" charset="-120"/>
              </a:rPr>
              <a:t>Comprehensive benchmark for evaluating multimodal fake content detection systems- </a:t>
            </a:r>
            <a:r>
              <a:rPr lang="en-US" sz="900" dirty="0">
                <a:solidFill>
                  <a:srgbClr val="64748B"/>
                </a:solidFill>
                <a:latin typeface="Calibri" pitchFamily="34" charset="0"/>
                <a:ea typeface="Calibri" pitchFamily="34" charset="-122"/>
                <a:cs typeface="Calibri" pitchFamily="34" charset="-120"/>
              </a:rPr>
              <a:t>(</a:t>
            </a:r>
            <a:r>
              <a:rPr lang="en-US" sz="900" dirty="0">
                <a:solidFill>
                  <a:srgbClr val="64748B"/>
                </a:solidFill>
                <a:latin typeface="Calibri" pitchFamily="34" charset="0"/>
                <a:ea typeface="Calibri" pitchFamily="34" charset="-122"/>
                <a:cs typeface="Calibri" pitchFamily="34" charset="-120"/>
                <a:hlinkClick r:id="rId5"/>
              </a:rPr>
              <a:t>https://github.com/liuxuannan/MMFakeBench</a:t>
            </a:r>
            <a:r>
              <a:rPr lang="en-US" sz="900" dirty="0">
                <a:solidFill>
                  <a:srgbClr val="64748B"/>
                </a:solidFill>
                <a:latin typeface="Calibri" pitchFamily="34" charset="0"/>
                <a:ea typeface="Calibri" pitchFamily="34" charset="-122"/>
                <a:cs typeface="Calibri" pitchFamily="34" charset="-120"/>
              </a:rPr>
              <a:t> )</a:t>
            </a:r>
            <a:endParaRPr lang="en-US" sz="900" dirty="0"/>
          </a:p>
        </p:txBody>
      </p:sp>
      <p:sp>
        <p:nvSpPr>
          <p:cNvPr id="10" name="Shape 7"/>
          <p:cNvSpPr/>
          <p:nvPr/>
        </p:nvSpPr>
        <p:spPr>
          <a:xfrm>
            <a:off x="457200" y="2194560"/>
            <a:ext cx="4114800" cy="960120"/>
          </a:xfrm>
          <a:prstGeom prst="rect">
            <a:avLst/>
          </a:prstGeom>
          <a:solidFill>
            <a:srgbClr val="F5F5F5"/>
          </a:solidFill>
          <a:ln/>
          <a:effectLst>
            <a:outerShdw blurRad="76200" dist="25400" dir="8100000" algn="bl" rotWithShape="0">
              <a:srgbClr val="000000">
                <a:alpha val="8000"/>
              </a:srgbClr>
            </a:outerShdw>
          </a:effectLst>
        </p:spPr>
      </p:sp>
      <p:sp>
        <p:nvSpPr>
          <p:cNvPr id="11" name="Text 8"/>
          <p:cNvSpPr/>
          <p:nvPr/>
        </p:nvSpPr>
        <p:spPr>
          <a:xfrm>
            <a:off x="640080" y="2286000"/>
            <a:ext cx="3749040" cy="365760"/>
          </a:xfrm>
          <a:prstGeom prst="rect">
            <a:avLst/>
          </a:prstGeom>
          <a:noFill/>
          <a:ln/>
        </p:spPr>
        <p:txBody>
          <a:bodyPr wrap="square" rtlCol="0" anchor="ctr"/>
          <a:lstStyle/>
          <a:p>
            <a:pPr marL="0" indent="0">
              <a:buNone/>
            </a:pPr>
            <a:r>
              <a:rPr lang="en-US" sz="1400" b="1" dirty="0">
                <a:solidFill>
                  <a:srgbClr val="00A896"/>
                </a:solidFill>
                <a:latin typeface="Calibri" pitchFamily="34" charset="0"/>
                <a:ea typeface="Calibri" pitchFamily="34" charset="-122"/>
                <a:cs typeface="Calibri" pitchFamily="34" charset="-120"/>
              </a:rPr>
              <a:t>Multilingual &amp; Multimodal</a:t>
            </a:r>
            <a:endParaRPr lang="en-US" sz="1400" dirty="0"/>
          </a:p>
          <a:p>
            <a:pPr marL="0" indent="0">
              <a:buNone/>
            </a:pPr>
            <a:r>
              <a:rPr lang="en-US" sz="1400" b="1" dirty="0">
                <a:solidFill>
                  <a:srgbClr val="00A896"/>
                </a:solidFill>
                <a:latin typeface="Calibri" pitchFamily="34" charset="0"/>
                <a:ea typeface="Calibri" pitchFamily="34" charset="-122"/>
                <a:cs typeface="Calibri" pitchFamily="34" charset="-120"/>
              </a:rPr>
              <a:t>Political Misinformation (2025)</a:t>
            </a:r>
            <a:endParaRPr lang="en-US" sz="1400" dirty="0"/>
          </a:p>
        </p:txBody>
      </p:sp>
      <p:sp>
        <p:nvSpPr>
          <p:cNvPr id="12" name="Text 9"/>
          <p:cNvSpPr/>
          <p:nvPr/>
        </p:nvSpPr>
        <p:spPr>
          <a:xfrm>
            <a:off x="640080" y="2697480"/>
            <a:ext cx="3749040" cy="365760"/>
          </a:xfrm>
          <a:prstGeom prst="rect">
            <a:avLst/>
          </a:prstGeom>
          <a:noFill/>
          <a:ln/>
        </p:spPr>
        <p:txBody>
          <a:bodyPr wrap="square" rtlCol="0" anchor="ctr"/>
          <a:lstStyle/>
          <a:p>
            <a:r>
              <a:rPr lang="en-US" sz="1200" dirty="0">
                <a:solidFill>
                  <a:srgbClr val="64748B"/>
                </a:solidFill>
                <a:latin typeface="Calibri" pitchFamily="34" charset="0"/>
                <a:ea typeface="Calibri" pitchFamily="34" charset="-122"/>
                <a:cs typeface="Calibri" pitchFamily="34" charset="-120"/>
              </a:rPr>
              <a:t>Cross-lingual political fake news with image-text pairs – </a:t>
            </a:r>
          </a:p>
          <a:p>
            <a:r>
              <a:rPr lang="en-US" sz="900" dirty="0">
                <a:solidFill>
                  <a:srgbClr val="64748B"/>
                </a:solidFill>
                <a:latin typeface="Calibri" pitchFamily="34" charset="0"/>
                <a:ea typeface="Calibri" pitchFamily="34" charset="-122"/>
                <a:cs typeface="Calibri" pitchFamily="34" charset="-120"/>
              </a:rPr>
              <a:t>( </a:t>
            </a:r>
            <a:r>
              <a:rPr lang="en-US" sz="900" dirty="0">
                <a:solidFill>
                  <a:srgbClr val="64748B"/>
                </a:solidFill>
                <a:latin typeface="Calibri" pitchFamily="34" charset="0"/>
                <a:ea typeface="Calibri" pitchFamily="34" charset="-122"/>
                <a:cs typeface="Calibri" pitchFamily="34" charset="-120"/>
                <a:hlinkClick r:id="rId6"/>
              </a:rPr>
              <a:t>https://data.mendeley.com/datasets/x356jrj2cz</a:t>
            </a:r>
            <a:r>
              <a:rPr lang="en-US" sz="900" dirty="0">
                <a:solidFill>
                  <a:srgbClr val="64748B"/>
                </a:solidFill>
                <a:latin typeface="Calibri" pitchFamily="34" charset="0"/>
                <a:ea typeface="Calibri" pitchFamily="34" charset="-122"/>
                <a:cs typeface="Calibri" pitchFamily="34" charset="-120"/>
              </a:rPr>
              <a:t> )</a:t>
            </a:r>
            <a:endParaRPr lang="en-US" sz="900" dirty="0"/>
          </a:p>
        </p:txBody>
      </p:sp>
      <p:sp>
        <p:nvSpPr>
          <p:cNvPr id="13" name="Shape 10"/>
          <p:cNvSpPr/>
          <p:nvPr/>
        </p:nvSpPr>
        <p:spPr>
          <a:xfrm>
            <a:off x="4572000" y="2194560"/>
            <a:ext cx="4114800" cy="960120"/>
          </a:xfrm>
          <a:prstGeom prst="rect">
            <a:avLst/>
          </a:prstGeom>
          <a:solidFill>
            <a:srgbClr val="F5F5F5"/>
          </a:solidFill>
          <a:ln/>
          <a:effectLst>
            <a:outerShdw blurRad="76200" dist="25400" dir="8100000" algn="bl" rotWithShape="0">
              <a:srgbClr val="000000">
                <a:alpha val="8000"/>
              </a:srgbClr>
            </a:outerShdw>
          </a:effectLst>
        </p:spPr>
      </p:sp>
      <p:sp>
        <p:nvSpPr>
          <p:cNvPr id="14" name="Text 11"/>
          <p:cNvSpPr/>
          <p:nvPr/>
        </p:nvSpPr>
        <p:spPr>
          <a:xfrm>
            <a:off x="4754880" y="2331720"/>
            <a:ext cx="3749040" cy="27432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MultiBanFakeDetect (2024)</a:t>
            </a:r>
            <a:endParaRPr lang="en-US" sz="1500" dirty="0"/>
          </a:p>
        </p:txBody>
      </p:sp>
      <p:sp>
        <p:nvSpPr>
          <p:cNvPr id="15" name="Text 12"/>
          <p:cNvSpPr/>
          <p:nvPr/>
        </p:nvSpPr>
        <p:spPr>
          <a:xfrm>
            <a:off x="4754880" y="2651760"/>
            <a:ext cx="3749040" cy="365760"/>
          </a:xfrm>
          <a:prstGeom prst="rect">
            <a:avLst/>
          </a:prstGeom>
          <a:noFill/>
          <a:ln/>
        </p:spPr>
        <p:txBody>
          <a:bodyPr wrap="square" rtlCol="0" anchor="ctr"/>
          <a:lstStyle/>
          <a:p>
            <a:r>
              <a:rPr lang="en-US" sz="1200" dirty="0">
                <a:solidFill>
                  <a:srgbClr val="64748B"/>
                </a:solidFill>
                <a:latin typeface="Calibri" pitchFamily="34" charset="0"/>
                <a:ea typeface="Calibri" pitchFamily="34" charset="-122"/>
                <a:cs typeface="Calibri" pitchFamily="34" charset="-120"/>
              </a:rPr>
              <a:t>Bengali multimodal misinformation dataset with social media posts- </a:t>
            </a:r>
          </a:p>
          <a:p>
            <a:r>
              <a:rPr lang="en-US" sz="900" dirty="0">
                <a:solidFill>
                  <a:srgbClr val="64748B"/>
                </a:solidFill>
                <a:latin typeface="Calibri" pitchFamily="34" charset="0"/>
                <a:ea typeface="Calibri" pitchFamily="34" charset="-122"/>
                <a:cs typeface="Calibri" pitchFamily="34" charset="-120"/>
              </a:rPr>
              <a:t>( </a:t>
            </a:r>
            <a:r>
              <a:rPr lang="en-US" sz="900" dirty="0">
                <a:solidFill>
                  <a:srgbClr val="64748B"/>
                </a:solidFill>
                <a:latin typeface="Calibri" pitchFamily="34" charset="0"/>
                <a:ea typeface="Calibri" pitchFamily="34" charset="-122"/>
                <a:cs typeface="Calibri" pitchFamily="34" charset="-120"/>
                <a:hlinkClick r:id="rId7"/>
              </a:rPr>
              <a:t>https://data.mendeley.com/datasets/k5pbz9795f/1</a:t>
            </a:r>
            <a:r>
              <a:rPr lang="en-US" sz="900" dirty="0">
                <a:solidFill>
                  <a:srgbClr val="64748B"/>
                </a:solidFill>
                <a:latin typeface="Calibri" pitchFamily="34" charset="0"/>
                <a:ea typeface="Calibri" pitchFamily="34" charset="-122"/>
                <a:cs typeface="Calibri" pitchFamily="34" charset="-120"/>
              </a:rPr>
              <a:t> )</a:t>
            </a:r>
            <a:endParaRPr lang="en-US" sz="900" dirty="0"/>
          </a:p>
        </p:txBody>
      </p:sp>
      <p:sp>
        <p:nvSpPr>
          <p:cNvPr id="16" name="Text 13"/>
          <p:cNvSpPr/>
          <p:nvPr/>
        </p:nvSpPr>
        <p:spPr>
          <a:xfrm>
            <a:off x="457200" y="3383280"/>
            <a:ext cx="8229600" cy="365760"/>
          </a:xfrm>
          <a:prstGeom prst="rect">
            <a:avLst/>
          </a:prstGeom>
          <a:noFill/>
          <a:ln/>
        </p:spPr>
        <p:txBody>
          <a:bodyPr wrap="square" rtlCol="0" anchor="ctr"/>
          <a:lstStyle/>
          <a:p>
            <a:pPr marL="0" indent="0" algn="ctr">
              <a:buNone/>
            </a:pPr>
            <a:r>
              <a:rPr lang="en-US" sz="1300" i="1" dirty="0">
                <a:solidFill>
                  <a:srgbClr val="64748B"/>
                </a:solidFill>
                <a:latin typeface="Calibri" pitchFamily="34" charset="0"/>
                <a:ea typeface="Calibri" pitchFamily="34" charset="-122"/>
                <a:cs typeface="Calibri" pitchFamily="34" charset="-120"/>
              </a:rPr>
              <a:t>All datasets include annotated image-text pairs with ground truth labels</a:t>
            </a:r>
            <a:endParaRPr lang="en-US" sz="1300" dirty="0"/>
          </a:p>
        </p:txBody>
      </p:sp>
      <p:sp>
        <p:nvSpPr>
          <p:cNvPr id="17" name="Text 14"/>
          <p:cNvSpPr/>
          <p:nvPr/>
        </p:nvSpPr>
        <p:spPr>
          <a:xfrm>
            <a:off x="457200" y="4389120"/>
            <a:ext cx="8229600" cy="274320"/>
          </a:xfrm>
          <a:prstGeom prst="rect">
            <a:avLst/>
          </a:prstGeom>
          <a:noFill/>
          <a:ln/>
        </p:spPr>
        <p:txBody>
          <a:bodyPr wrap="square" rtlCol="0" anchor="ctr"/>
          <a:lstStyle/>
          <a:p>
            <a:pPr marL="0" indent="0" algn="ctr">
              <a:buNone/>
            </a:pPr>
            <a:r>
              <a:rPr lang="en-US" sz="1100" b="1" dirty="0">
                <a:latin typeface="Calibri" pitchFamily="34" charset="0"/>
                <a:ea typeface="Calibri" pitchFamily="34" charset="-122"/>
                <a:cs typeface="Calibri" pitchFamily="34" charset="-120"/>
              </a:rPr>
              <a:t>Dataset links will be included in project documentation</a:t>
            </a:r>
            <a:endParaRPr lang="en-US" sz="11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65760"/>
            <a:ext cx="365760" cy="365760"/>
          </a:xfrm>
          <a:prstGeom prst="rect">
            <a:avLst/>
          </a:prstGeom>
        </p:spPr>
      </p:pic>
      <p:sp>
        <p:nvSpPr>
          <p:cNvPr id="3" name="Text 0"/>
          <p:cNvSpPr/>
          <p:nvPr/>
        </p:nvSpPr>
        <p:spPr>
          <a:xfrm>
            <a:off x="914400" y="411480"/>
            <a:ext cx="7772400" cy="365760"/>
          </a:xfrm>
          <a:prstGeom prst="rect">
            <a:avLst/>
          </a:prstGeom>
          <a:noFill/>
          <a:ln/>
        </p:spPr>
        <p:txBody>
          <a:bodyPr wrap="square" lIns="0" tIns="0" rIns="0" bIns="0" rtlCol="0" anchor="ctr"/>
          <a:lstStyle/>
          <a:p>
            <a:pPr marL="0" indent="0">
              <a:buNone/>
            </a:pPr>
            <a:r>
              <a:rPr lang="en-US" sz="3600" b="1" dirty="0">
                <a:solidFill>
                  <a:srgbClr val="2C3E50"/>
                </a:solidFill>
                <a:latin typeface="Calibri" pitchFamily="34" charset="0"/>
                <a:ea typeface="Calibri" pitchFamily="34" charset="-122"/>
                <a:cs typeface="Calibri" pitchFamily="34" charset="-120"/>
              </a:rPr>
              <a:t>Methodology Overview</a:t>
            </a:r>
            <a:endParaRPr lang="en-US" sz="3600" dirty="0"/>
          </a:p>
        </p:txBody>
      </p:sp>
      <p:sp>
        <p:nvSpPr>
          <p:cNvPr id="4" name="Shape 1"/>
          <p:cNvSpPr/>
          <p:nvPr/>
        </p:nvSpPr>
        <p:spPr>
          <a:xfrm>
            <a:off x="457200" y="1188720"/>
            <a:ext cx="3931920" cy="914400"/>
          </a:xfrm>
          <a:prstGeom prst="rect">
            <a:avLst/>
          </a:prstGeom>
          <a:solidFill>
            <a:srgbClr val="F5F5F5"/>
          </a:solidFill>
          <a:ln/>
          <a:effectLst>
            <a:outerShdw blurRad="76200" dist="25400" dir="8100000" algn="bl" rotWithShape="0">
              <a:srgbClr val="000000">
                <a:alpha val="8000"/>
              </a:srgbClr>
            </a:outerShdw>
          </a:effectLst>
        </p:spPr>
      </p:sp>
      <p:sp>
        <p:nvSpPr>
          <p:cNvPr id="5" name="Text 2"/>
          <p:cNvSpPr/>
          <p:nvPr/>
        </p:nvSpPr>
        <p:spPr>
          <a:xfrm>
            <a:off x="548640" y="1325880"/>
            <a:ext cx="457200" cy="457200"/>
          </a:xfrm>
          <a:prstGeom prst="rect">
            <a:avLst/>
          </a:prstGeom>
          <a:solidFill>
            <a:srgbClr val="065A82"/>
          </a:solid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6" name="Text 3"/>
          <p:cNvSpPr/>
          <p:nvPr/>
        </p:nvSpPr>
        <p:spPr>
          <a:xfrm>
            <a:off x="1188720" y="1371600"/>
            <a:ext cx="3108960" cy="640080"/>
          </a:xfrm>
          <a:prstGeom prst="rect">
            <a:avLst/>
          </a:prstGeom>
          <a:noFill/>
          <a:ln/>
        </p:spPr>
        <p:txBody>
          <a:bodyPr wrap="square" rtlCol="0" anchor="ctr"/>
          <a:lstStyle/>
          <a:p>
            <a:pPr marL="0" indent="0">
              <a:buNone/>
            </a:pPr>
            <a:r>
              <a:rPr lang="en-US" sz="1400" b="1" dirty="0">
                <a:solidFill>
                  <a:srgbClr val="2C3E50"/>
                </a:solidFill>
                <a:latin typeface="Calibri" pitchFamily="34" charset="0"/>
                <a:ea typeface="Calibri" pitchFamily="34" charset="-122"/>
                <a:cs typeface="Calibri" pitchFamily="34" charset="-120"/>
              </a:rPr>
              <a:t>Data Preprocessing</a:t>
            </a:r>
            <a:endParaRPr lang="en-US" sz="1400" dirty="0"/>
          </a:p>
          <a:p>
            <a:pPr marL="0" indent="0">
              <a:buNone/>
            </a:pPr>
            <a:r>
              <a:rPr lang="en-US" sz="1200" dirty="0">
                <a:solidFill>
                  <a:srgbClr val="64748B"/>
                </a:solidFill>
                <a:latin typeface="Calibri" pitchFamily="34" charset="0"/>
                <a:ea typeface="Calibri" pitchFamily="34" charset="-122"/>
                <a:cs typeface="Calibri" pitchFamily="34" charset="-120"/>
              </a:rPr>
              <a:t>Clean text, resize images, tokenize, normalize</a:t>
            </a:r>
            <a:endParaRPr lang="en-US" sz="1400" dirty="0"/>
          </a:p>
        </p:txBody>
      </p:sp>
      <p:sp>
        <p:nvSpPr>
          <p:cNvPr id="7" name="Shape 4"/>
          <p:cNvSpPr/>
          <p:nvPr/>
        </p:nvSpPr>
        <p:spPr>
          <a:xfrm>
            <a:off x="4754880" y="1188720"/>
            <a:ext cx="3931920" cy="914400"/>
          </a:xfrm>
          <a:prstGeom prst="rect">
            <a:avLst/>
          </a:prstGeom>
          <a:solidFill>
            <a:srgbClr val="F5F5F5"/>
          </a:solidFill>
          <a:ln/>
          <a:effectLst>
            <a:outerShdw blurRad="76200" dist="25400" dir="8100000" algn="bl" rotWithShape="0">
              <a:srgbClr val="000000">
                <a:alpha val="8000"/>
              </a:srgbClr>
            </a:outerShdw>
          </a:effectLst>
        </p:spPr>
      </p:sp>
      <p:sp>
        <p:nvSpPr>
          <p:cNvPr id="8" name="Text 5"/>
          <p:cNvSpPr/>
          <p:nvPr/>
        </p:nvSpPr>
        <p:spPr>
          <a:xfrm>
            <a:off x="4846320" y="1325880"/>
            <a:ext cx="457200" cy="457200"/>
          </a:xfrm>
          <a:prstGeom prst="rect">
            <a:avLst/>
          </a:prstGeom>
          <a:solidFill>
            <a:srgbClr val="028090"/>
          </a:solid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9" name="Text 6"/>
          <p:cNvSpPr/>
          <p:nvPr/>
        </p:nvSpPr>
        <p:spPr>
          <a:xfrm>
            <a:off x="5486400" y="1371600"/>
            <a:ext cx="3108960" cy="640080"/>
          </a:xfrm>
          <a:prstGeom prst="rect">
            <a:avLst/>
          </a:prstGeom>
          <a:noFill/>
          <a:ln/>
        </p:spPr>
        <p:txBody>
          <a:bodyPr wrap="square" rtlCol="0" anchor="ctr"/>
          <a:lstStyle/>
          <a:p>
            <a:pPr marL="0" indent="0">
              <a:buNone/>
            </a:pPr>
            <a:r>
              <a:rPr lang="en-US" sz="1400" b="1" dirty="0">
                <a:solidFill>
                  <a:srgbClr val="2C3E50"/>
                </a:solidFill>
                <a:latin typeface="Calibri" pitchFamily="34" charset="0"/>
                <a:ea typeface="Calibri" pitchFamily="34" charset="-122"/>
                <a:cs typeface="Calibri" pitchFamily="34" charset="-120"/>
              </a:rPr>
              <a:t>Feature Extraction</a:t>
            </a:r>
            <a:endParaRPr lang="en-US" sz="1400" dirty="0"/>
          </a:p>
          <a:p>
            <a:pPr marL="0" indent="0">
              <a:buNone/>
            </a:pPr>
            <a:r>
              <a:rPr lang="en-US" sz="1200" dirty="0">
                <a:solidFill>
                  <a:srgbClr val="64748B"/>
                </a:solidFill>
                <a:latin typeface="Calibri" pitchFamily="34" charset="0"/>
                <a:ea typeface="Calibri" pitchFamily="34" charset="-122"/>
                <a:cs typeface="Calibri" pitchFamily="34" charset="-120"/>
              </a:rPr>
              <a:t>Extract embeddings using pretrained models</a:t>
            </a:r>
            <a:endParaRPr lang="en-US" sz="1400" dirty="0"/>
          </a:p>
        </p:txBody>
      </p:sp>
      <p:sp>
        <p:nvSpPr>
          <p:cNvPr id="10" name="Shape 7"/>
          <p:cNvSpPr/>
          <p:nvPr/>
        </p:nvSpPr>
        <p:spPr>
          <a:xfrm>
            <a:off x="457200" y="2286000"/>
            <a:ext cx="3931920" cy="914400"/>
          </a:xfrm>
          <a:prstGeom prst="rect">
            <a:avLst/>
          </a:prstGeom>
          <a:solidFill>
            <a:srgbClr val="F5F5F5"/>
          </a:solidFill>
          <a:ln/>
          <a:effectLst>
            <a:outerShdw blurRad="76200" dist="25400" dir="8100000" algn="bl" rotWithShape="0">
              <a:srgbClr val="000000">
                <a:alpha val="8000"/>
              </a:srgbClr>
            </a:outerShdw>
          </a:effectLst>
        </p:spPr>
      </p:sp>
      <p:sp>
        <p:nvSpPr>
          <p:cNvPr id="11" name="Text 8"/>
          <p:cNvSpPr/>
          <p:nvPr/>
        </p:nvSpPr>
        <p:spPr>
          <a:xfrm>
            <a:off x="548640" y="2423160"/>
            <a:ext cx="457200" cy="457200"/>
          </a:xfrm>
          <a:prstGeom prst="rect">
            <a:avLst/>
          </a:prstGeom>
          <a:solidFill>
            <a:srgbClr val="00A896"/>
          </a:solid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2" name="Text 9"/>
          <p:cNvSpPr/>
          <p:nvPr/>
        </p:nvSpPr>
        <p:spPr>
          <a:xfrm>
            <a:off x="1188720" y="2468880"/>
            <a:ext cx="3108960" cy="640080"/>
          </a:xfrm>
          <a:prstGeom prst="rect">
            <a:avLst/>
          </a:prstGeom>
          <a:noFill/>
          <a:ln/>
        </p:spPr>
        <p:txBody>
          <a:bodyPr wrap="square" rtlCol="0" anchor="ctr"/>
          <a:lstStyle/>
          <a:p>
            <a:pPr marL="0" indent="0">
              <a:buNone/>
            </a:pPr>
            <a:r>
              <a:rPr lang="en-US" sz="1400" b="1" dirty="0">
                <a:solidFill>
                  <a:srgbClr val="2C3E50"/>
                </a:solidFill>
                <a:latin typeface="Calibri" pitchFamily="34" charset="0"/>
                <a:ea typeface="Calibri" pitchFamily="34" charset="-122"/>
                <a:cs typeface="Calibri" pitchFamily="34" charset="-120"/>
              </a:rPr>
              <a:t>Cross-Modal Similarity</a:t>
            </a:r>
            <a:endParaRPr lang="en-US" sz="1400" dirty="0"/>
          </a:p>
          <a:p>
            <a:pPr marL="0" indent="0">
              <a:buNone/>
            </a:pPr>
            <a:r>
              <a:rPr lang="en-US" sz="1200" dirty="0">
                <a:solidFill>
                  <a:srgbClr val="64748B"/>
                </a:solidFill>
                <a:latin typeface="Calibri" pitchFamily="34" charset="0"/>
                <a:ea typeface="Calibri" pitchFamily="34" charset="-122"/>
                <a:cs typeface="Calibri" pitchFamily="34" charset="-120"/>
              </a:rPr>
              <a:t>Calculate semantic consistency scores</a:t>
            </a:r>
            <a:endParaRPr lang="en-US" sz="1400" dirty="0"/>
          </a:p>
        </p:txBody>
      </p:sp>
      <p:sp>
        <p:nvSpPr>
          <p:cNvPr id="13" name="Shape 10"/>
          <p:cNvSpPr/>
          <p:nvPr/>
        </p:nvSpPr>
        <p:spPr>
          <a:xfrm>
            <a:off x="4754880" y="2286000"/>
            <a:ext cx="3931920" cy="914400"/>
          </a:xfrm>
          <a:prstGeom prst="rect">
            <a:avLst/>
          </a:prstGeom>
          <a:solidFill>
            <a:srgbClr val="F5F5F5"/>
          </a:solidFill>
          <a:ln/>
          <a:effectLst>
            <a:outerShdw blurRad="76200" dist="25400" dir="8100000" algn="bl" rotWithShape="0">
              <a:srgbClr val="000000">
                <a:alpha val="8000"/>
              </a:srgbClr>
            </a:outerShdw>
          </a:effectLst>
        </p:spPr>
      </p:sp>
      <p:sp>
        <p:nvSpPr>
          <p:cNvPr id="14" name="Text 11"/>
          <p:cNvSpPr/>
          <p:nvPr/>
        </p:nvSpPr>
        <p:spPr>
          <a:xfrm>
            <a:off x="4846320" y="2423160"/>
            <a:ext cx="457200" cy="457200"/>
          </a:xfrm>
          <a:prstGeom prst="rect">
            <a:avLst/>
          </a:prstGeom>
          <a:solidFill>
            <a:srgbClr val="1E2761"/>
          </a:solid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15" name="Text 12"/>
          <p:cNvSpPr/>
          <p:nvPr/>
        </p:nvSpPr>
        <p:spPr>
          <a:xfrm>
            <a:off x="5486400" y="2468880"/>
            <a:ext cx="3108960" cy="640080"/>
          </a:xfrm>
          <a:prstGeom prst="rect">
            <a:avLst/>
          </a:prstGeom>
          <a:noFill/>
          <a:ln/>
        </p:spPr>
        <p:txBody>
          <a:bodyPr wrap="square" rtlCol="0" anchor="ctr"/>
          <a:lstStyle/>
          <a:p>
            <a:pPr marL="0" indent="0">
              <a:buNone/>
            </a:pPr>
            <a:r>
              <a:rPr lang="en-US" sz="1400" b="1" dirty="0">
                <a:solidFill>
                  <a:srgbClr val="2C3E50"/>
                </a:solidFill>
                <a:latin typeface="Calibri" pitchFamily="34" charset="0"/>
                <a:ea typeface="Calibri" pitchFamily="34" charset="-122"/>
                <a:cs typeface="Calibri" pitchFamily="34" charset="-120"/>
              </a:rPr>
              <a:t>Model Training</a:t>
            </a:r>
            <a:endParaRPr lang="en-US" sz="1400" dirty="0"/>
          </a:p>
          <a:p>
            <a:pPr marL="0" indent="0">
              <a:buNone/>
            </a:pPr>
            <a:r>
              <a:rPr lang="en-US" sz="1200" dirty="0">
                <a:solidFill>
                  <a:srgbClr val="64748B"/>
                </a:solidFill>
                <a:latin typeface="Calibri" pitchFamily="34" charset="0"/>
                <a:ea typeface="Calibri" pitchFamily="34" charset="-122"/>
                <a:cs typeface="Calibri" pitchFamily="34" charset="-120"/>
              </a:rPr>
              <a:t>Train classifier on labeled dataset</a:t>
            </a:r>
            <a:endParaRPr lang="en-US" sz="1400" dirty="0"/>
          </a:p>
        </p:txBody>
      </p:sp>
      <p:sp>
        <p:nvSpPr>
          <p:cNvPr id="16" name="Text 13"/>
          <p:cNvSpPr/>
          <p:nvPr/>
        </p:nvSpPr>
        <p:spPr>
          <a:xfrm>
            <a:off x="457200" y="3474720"/>
            <a:ext cx="8229600" cy="274320"/>
          </a:xfrm>
          <a:prstGeom prst="rect">
            <a:avLst/>
          </a:prstGeom>
          <a:noFill/>
          <a:ln/>
        </p:spPr>
        <p:txBody>
          <a:bodyPr wrap="square" rtlCol="0" anchor="ctr"/>
          <a:lstStyle/>
          <a:p>
            <a:pPr marL="0" indent="0">
              <a:buNone/>
            </a:pPr>
            <a:r>
              <a:rPr lang="en-US" sz="1600" b="1" dirty="0">
                <a:solidFill>
                  <a:srgbClr val="2C3E50"/>
                </a:solidFill>
                <a:latin typeface="Calibri" pitchFamily="34" charset="0"/>
                <a:ea typeface="Calibri" pitchFamily="34" charset="-122"/>
                <a:cs typeface="Calibri" pitchFamily="34" charset="-120"/>
              </a:rPr>
              <a:t>Evaluation Metrics:</a:t>
            </a:r>
            <a:endParaRPr lang="en-US" sz="1600" dirty="0"/>
          </a:p>
        </p:txBody>
      </p:sp>
      <p:sp>
        <p:nvSpPr>
          <p:cNvPr id="17" name="Shape 14"/>
          <p:cNvSpPr/>
          <p:nvPr/>
        </p:nvSpPr>
        <p:spPr>
          <a:xfrm>
            <a:off x="1371600" y="3931920"/>
            <a:ext cx="6400800" cy="731520"/>
          </a:xfrm>
          <a:prstGeom prst="rect">
            <a:avLst/>
          </a:prstGeom>
          <a:solidFill>
            <a:srgbClr val="F5F5F5"/>
          </a:solidFill>
          <a:ln/>
        </p:spPr>
      </p:sp>
      <p:sp>
        <p:nvSpPr>
          <p:cNvPr id="18" name="Text 15"/>
          <p:cNvSpPr/>
          <p:nvPr/>
        </p:nvSpPr>
        <p:spPr>
          <a:xfrm>
            <a:off x="1828800" y="4069080"/>
            <a:ext cx="1371600" cy="457200"/>
          </a:xfrm>
          <a:prstGeom prst="rect">
            <a:avLst/>
          </a:prstGeom>
          <a:noFill/>
          <a:ln/>
        </p:spPr>
        <p:txBody>
          <a:bodyPr wrap="square" rtlCol="0" anchor="ctr"/>
          <a:lstStyle/>
          <a:p>
            <a:pPr marL="0" indent="0" algn="ctr">
              <a:buNone/>
            </a:pPr>
            <a:r>
              <a:rPr lang="en-US" sz="1300" b="1" dirty="0">
                <a:solidFill>
                  <a:srgbClr val="065A82"/>
                </a:solidFill>
                <a:latin typeface="Calibri" pitchFamily="34" charset="0"/>
                <a:ea typeface="Calibri" pitchFamily="34" charset="-122"/>
                <a:cs typeface="Calibri" pitchFamily="34" charset="-120"/>
              </a:rPr>
              <a:t>Accuracy</a:t>
            </a:r>
            <a:endParaRPr lang="en-US" sz="1300" dirty="0"/>
          </a:p>
        </p:txBody>
      </p:sp>
      <p:sp>
        <p:nvSpPr>
          <p:cNvPr id="19" name="Text 16"/>
          <p:cNvSpPr/>
          <p:nvPr/>
        </p:nvSpPr>
        <p:spPr>
          <a:xfrm>
            <a:off x="3200400" y="4069080"/>
            <a:ext cx="1371600" cy="457200"/>
          </a:xfrm>
          <a:prstGeom prst="rect">
            <a:avLst/>
          </a:prstGeom>
          <a:noFill/>
          <a:ln/>
        </p:spPr>
        <p:txBody>
          <a:bodyPr wrap="square" rtlCol="0" anchor="ctr"/>
          <a:lstStyle/>
          <a:p>
            <a:pPr marL="0" indent="0" algn="ctr">
              <a:buNone/>
            </a:pPr>
            <a:r>
              <a:rPr lang="en-US" sz="1300" b="1" dirty="0">
                <a:solidFill>
                  <a:srgbClr val="028090"/>
                </a:solidFill>
                <a:latin typeface="Calibri" pitchFamily="34" charset="0"/>
                <a:ea typeface="Calibri" pitchFamily="34" charset="-122"/>
                <a:cs typeface="Calibri" pitchFamily="34" charset="-120"/>
              </a:rPr>
              <a:t>Precision</a:t>
            </a:r>
            <a:endParaRPr lang="en-US" sz="1300" dirty="0"/>
          </a:p>
        </p:txBody>
      </p:sp>
      <p:sp>
        <p:nvSpPr>
          <p:cNvPr id="20" name="Text 17"/>
          <p:cNvSpPr/>
          <p:nvPr/>
        </p:nvSpPr>
        <p:spPr>
          <a:xfrm>
            <a:off x="4572000" y="4069080"/>
            <a:ext cx="1371600" cy="457200"/>
          </a:xfrm>
          <a:prstGeom prst="rect">
            <a:avLst/>
          </a:prstGeom>
          <a:noFill/>
          <a:ln/>
        </p:spPr>
        <p:txBody>
          <a:bodyPr wrap="square" rtlCol="0" anchor="ctr"/>
          <a:lstStyle/>
          <a:p>
            <a:pPr marL="0" indent="0" algn="ctr">
              <a:buNone/>
            </a:pPr>
            <a:r>
              <a:rPr lang="en-US" sz="1300" b="1" dirty="0">
                <a:solidFill>
                  <a:srgbClr val="00A896"/>
                </a:solidFill>
                <a:latin typeface="Calibri" pitchFamily="34" charset="0"/>
                <a:ea typeface="Calibri" pitchFamily="34" charset="-122"/>
                <a:cs typeface="Calibri" pitchFamily="34" charset="-120"/>
              </a:rPr>
              <a:t>Recall</a:t>
            </a:r>
            <a:endParaRPr lang="en-US" sz="1300" dirty="0"/>
          </a:p>
        </p:txBody>
      </p:sp>
      <p:sp>
        <p:nvSpPr>
          <p:cNvPr id="21" name="Text 18"/>
          <p:cNvSpPr/>
          <p:nvPr/>
        </p:nvSpPr>
        <p:spPr>
          <a:xfrm>
            <a:off x="5943600" y="4069080"/>
            <a:ext cx="1371600" cy="45720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F1-Score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65760"/>
            <a:ext cx="365760" cy="365760"/>
          </a:xfrm>
          <a:prstGeom prst="rect">
            <a:avLst/>
          </a:prstGeom>
        </p:spPr>
      </p:pic>
      <p:sp>
        <p:nvSpPr>
          <p:cNvPr id="3" name="Text 0"/>
          <p:cNvSpPr/>
          <p:nvPr/>
        </p:nvSpPr>
        <p:spPr>
          <a:xfrm>
            <a:off x="914400" y="411480"/>
            <a:ext cx="7772400" cy="365760"/>
          </a:xfrm>
          <a:prstGeom prst="rect">
            <a:avLst/>
          </a:prstGeom>
          <a:noFill/>
          <a:ln/>
        </p:spPr>
        <p:txBody>
          <a:bodyPr wrap="square" lIns="0" tIns="0" rIns="0" bIns="0" rtlCol="0" anchor="ctr"/>
          <a:lstStyle/>
          <a:p>
            <a:pPr marL="0" indent="0">
              <a:buNone/>
            </a:pPr>
            <a:r>
              <a:rPr lang="en-US" sz="3600" b="1" dirty="0">
                <a:solidFill>
                  <a:srgbClr val="2C3E50"/>
                </a:solidFill>
                <a:latin typeface="Calibri" pitchFamily="34" charset="0"/>
                <a:ea typeface="Calibri" pitchFamily="34" charset="-122"/>
                <a:cs typeface="Calibri" pitchFamily="34" charset="-120"/>
              </a:rPr>
              <a:t>Expected Contributions</a:t>
            </a:r>
            <a:endParaRPr lang="en-US" sz="3600" dirty="0"/>
          </a:p>
        </p:txBody>
      </p:sp>
      <p:sp>
        <p:nvSpPr>
          <p:cNvPr id="4" name="Shape 1"/>
          <p:cNvSpPr/>
          <p:nvPr/>
        </p:nvSpPr>
        <p:spPr>
          <a:xfrm>
            <a:off x="457200" y="1188720"/>
            <a:ext cx="4114800" cy="1005840"/>
          </a:xfrm>
          <a:prstGeom prst="rect">
            <a:avLst/>
          </a:prstGeom>
          <a:solidFill>
            <a:srgbClr val="F5F5F5"/>
          </a:solidFill>
          <a:ln/>
          <a:effectLst>
            <a:outerShdw blurRad="76200" dist="25400" dir="8100000" algn="bl" rotWithShape="0">
              <a:srgbClr val="000000">
                <a:alpha val="8000"/>
              </a:srgbClr>
            </a:outerShdw>
          </a:effectLst>
        </p:spPr>
      </p:sp>
      <p:sp>
        <p:nvSpPr>
          <p:cNvPr id="5" name="Shape 2"/>
          <p:cNvSpPr/>
          <p:nvPr/>
        </p:nvSpPr>
        <p:spPr>
          <a:xfrm>
            <a:off x="457200" y="1188720"/>
            <a:ext cx="73152" cy="1005840"/>
          </a:xfrm>
          <a:prstGeom prst="rect">
            <a:avLst/>
          </a:prstGeom>
          <a:solidFill>
            <a:srgbClr val="065A82"/>
          </a:solidFill>
          <a:ln/>
        </p:spPr>
      </p:sp>
      <p:sp>
        <p:nvSpPr>
          <p:cNvPr id="6" name="Text 3"/>
          <p:cNvSpPr/>
          <p:nvPr/>
        </p:nvSpPr>
        <p:spPr>
          <a:xfrm>
            <a:off x="731520" y="1371600"/>
            <a:ext cx="3657600" cy="685800"/>
          </a:xfrm>
          <a:prstGeom prst="rect">
            <a:avLst/>
          </a:prstGeom>
          <a:noFill/>
          <a:ln/>
        </p:spPr>
        <p:txBody>
          <a:bodyPr wrap="square" rtlCol="0" anchor="ctr"/>
          <a:lstStyle/>
          <a:p>
            <a:pPr marL="0" indent="0">
              <a:buNone/>
            </a:pPr>
            <a:r>
              <a:rPr lang="en-US" sz="1500" b="1" dirty="0">
                <a:solidFill>
                  <a:srgbClr val="2C3E50"/>
                </a:solidFill>
                <a:latin typeface="Calibri" pitchFamily="34" charset="0"/>
                <a:ea typeface="Calibri" pitchFamily="34" charset="-122"/>
                <a:cs typeface="Calibri" pitchFamily="34" charset="-120"/>
              </a:rPr>
              <a:t>Enhanced Cross-Modal Reasoning</a:t>
            </a:r>
            <a:endParaRPr lang="en-US" sz="1500" dirty="0"/>
          </a:p>
          <a:p>
            <a:pPr marL="0" indent="0">
              <a:buNone/>
            </a:pPr>
            <a:r>
              <a:rPr lang="en-US" sz="1300" dirty="0">
                <a:solidFill>
                  <a:srgbClr val="64748B"/>
                </a:solidFill>
                <a:latin typeface="Calibri" pitchFamily="34" charset="0"/>
                <a:ea typeface="Calibri" pitchFamily="34" charset="-122"/>
                <a:cs typeface="Calibri" pitchFamily="34" charset="-120"/>
              </a:rPr>
              <a:t>Explicit inconsistency modeling improves detection of subtle mismatches</a:t>
            </a:r>
            <a:endParaRPr lang="en-US" sz="1500" dirty="0"/>
          </a:p>
        </p:txBody>
      </p:sp>
      <p:sp>
        <p:nvSpPr>
          <p:cNvPr id="7" name="Shape 4"/>
          <p:cNvSpPr/>
          <p:nvPr/>
        </p:nvSpPr>
        <p:spPr>
          <a:xfrm>
            <a:off x="4572000" y="1188720"/>
            <a:ext cx="4114800" cy="1005840"/>
          </a:xfrm>
          <a:prstGeom prst="rect">
            <a:avLst/>
          </a:prstGeom>
          <a:solidFill>
            <a:srgbClr val="F5F5F5"/>
          </a:solidFill>
          <a:ln/>
          <a:effectLst>
            <a:outerShdw blurRad="76200" dist="25400" dir="8100000" algn="bl" rotWithShape="0">
              <a:srgbClr val="000000">
                <a:alpha val="8000"/>
              </a:srgbClr>
            </a:outerShdw>
          </a:effectLst>
        </p:spPr>
      </p:sp>
      <p:sp>
        <p:nvSpPr>
          <p:cNvPr id="8" name="Shape 5"/>
          <p:cNvSpPr/>
          <p:nvPr/>
        </p:nvSpPr>
        <p:spPr>
          <a:xfrm>
            <a:off x="4572000" y="1188720"/>
            <a:ext cx="73152" cy="1005840"/>
          </a:xfrm>
          <a:prstGeom prst="rect">
            <a:avLst/>
          </a:prstGeom>
          <a:solidFill>
            <a:srgbClr val="028090"/>
          </a:solidFill>
          <a:ln/>
        </p:spPr>
      </p:sp>
      <p:sp>
        <p:nvSpPr>
          <p:cNvPr id="9" name="Text 6"/>
          <p:cNvSpPr/>
          <p:nvPr/>
        </p:nvSpPr>
        <p:spPr>
          <a:xfrm>
            <a:off x="4846320" y="1371600"/>
            <a:ext cx="3657600" cy="685800"/>
          </a:xfrm>
          <a:prstGeom prst="rect">
            <a:avLst/>
          </a:prstGeom>
          <a:noFill/>
          <a:ln/>
        </p:spPr>
        <p:txBody>
          <a:bodyPr wrap="square" rtlCol="0" anchor="ctr"/>
          <a:lstStyle/>
          <a:p>
            <a:pPr marL="0" indent="0">
              <a:buNone/>
            </a:pPr>
            <a:r>
              <a:rPr lang="en-US" sz="1500" b="1" dirty="0">
                <a:solidFill>
                  <a:srgbClr val="2C3E50"/>
                </a:solidFill>
                <a:latin typeface="Calibri" pitchFamily="34" charset="0"/>
                <a:ea typeface="Calibri" pitchFamily="34" charset="-122"/>
                <a:cs typeface="Calibri" pitchFamily="34" charset="-120"/>
              </a:rPr>
              <a:t>Improved Robustness</a:t>
            </a:r>
            <a:endParaRPr lang="en-US" sz="1500" dirty="0"/>
          </a:p>
          <a:p>
            <a:pPr marL="0" indent="0">
              <a:buNone/>
            </a:pPr>
            <a:r>
              <a:rPr lang="en-US" sz="1300" dirty="0">
                <a:solidFill>
                  <a:srgbClr val="64748B"/>
                </a:solidFill>
                <a:latin typeface="Calibri" pitchFamily="34" charset="0"/>
                <a:ea typeface="Calibri" pitchFamily="34" charset="-122"/>
                <a:cs typeface="Calibri" pitchFamily="34" charset="-120"/>
              </a:rPr>
              <a:t>System designed to handle adversarial edits and paraphrasing attacks</a:t>
            </a:r>
            <a:endParaRPr lang="en-US" sz="1500" dirty="0"/>
          </a:p>
        </p:txBody>
      </p:sp>
      <p:sp>
        <p:nvSpPr>
          <p:cNvPr id="10" name="Shape 7"/>
          <p:cNvSpPr/>
          <p:nvPr/>
        </p:nvSpPr>
        <p:spPr>
          <a:xfrm>
            <a:off x="457200" y="2377440"/>
            <a:ext cx="4114800" cy="1005840"/>
          </a:xfrm>
          <a:prstGeom prst="rect">
            <a:avLst/>
          </a:prstGeom>
          <a:solidFill>
            <a:srgbClr val="F5F5F5"/>
          </a:solidFill>
          <a:ln/>
          <a:effectLst>
            <a:outerShdw blurRad="76200" dist="25400" dir="8100000" algn="bl" rotWithShape="0">
              <a:srgbClr val="000000">
                <a:alpha val="8000"/>
              </a:srgbClr>
            </a:outerShdw>
          </a:effectLst>
        </p:spPr>
      </p:sp>
      <p:sp>
        <p:nvSpPr>
          <p:cNvPr id="11" name="Shape 8"/>
          <p:cNvSpPr/>
          <p:nvPr/>
        </p:nvSpPr>
        <p:spPr>
          <a:xfrm>
            <a:off x="457200" y="2377440"/>
            <a:ext cx="73152" cy="1005840"/>
          </a:xfrm>
          <a:prstGeom prst="rect">
            <a:avLst/>
          </a:prstGeom>
          <a:solidFill>
            <a:srgbClr val="00A896"/>
          </a:solidFill>
          <a:ln/>
        </p:spPr>
      </p:sp>
      <p:sp>
        <p:nvSpPr>
          <p:cNvPr id="12" name="Text 9"/>
          <p:cNvSpPr/>
          <p:nvPr/>
        </p:nvSpPr>
        <p:spPr>
          <a:xfrm>
            <a:off x="731520" y="2560320"/>
            <a:ext cx="3657600" cy="685800"/>
          </a:xfrm>
          <a:prstGeom prst="rect">
            <a:avLst/>
          </a:prstGeom>
          <a:noFill/>
          <a:ln/>
        </p:spPr>
        <p:txBody>
          <a:bodyPr wrap="square" rtlCol="0" anchor="ctr"/>
          <a:lstStyle/>
          <a:p>
            <a:pPr marL="0" indent="0">
              <a:buNone/>
            </a:pPr>
            <a:r>
              <a:rPr lang="en-US" sz="1500" b="1" dirty="0">
                <a:solidFill>
                  <a:srgbClr val="2C3E50"/>
                </a:solidFill>
                <a:latin typeface="Calibri" pitchFamily="34" charset="0"/>
                <a:ea typeface="Calibri" pitchFamily="34" charset="-122"/>
                <a:cs typeface="Calibri" pitchFamily="34" charset="-120"/>
              </a:rPr>
              <a:t>Explainability &amp; Trust</a:t>
            </a:r>
            <a:endParaRPr lang="en-US" sz="1500" dirty="0"/>
          </a:p>
          <a:p>
            <a:pPr marL="0" indent="0">
              <a:buNone/>
            </a:pPr>
            <a:r>
              <a:rPr lang="en-US" sz="1300" dirty="0">
                <a:solidFill>
                  <a:srgbClr val="64748B"/>
                </a:solidFill>
                <a:latin typeface="Calibri" pitchFamily="34" charset="0"/>
                <a:ea typeface="Calibri" pitchFamily="34" charset="-122"/>
                <a:cs typeface="Calibri" pitchFamily="34" charset="-120"/>
              </a:rPr>
              <a:t>Transparent decision-making increases user confidence in AI predictions</a:t>
            </a:r>
            <a:endParaRPr lang="en-US" sz="1500" dirty="0"/>
          </a:p>
        </p:txBody>
      </p:sp>
      <p:sp>
        <p:nvSpPr>
          <p:cNvPr id="13" name="Shape 10"/>
          <p:cNvSpPr/>
          <p:nvPr/>
        </p:nvSpPr>
        <p:spPr>
          <a:xfrm>
            <a:off x="4572000" y="2377440"/>
            <a:ext cx="4114800" cy="1005840"/>
          </a:xfrm>
          <a:prstGeom prst="rect">
            <a:avLst/>
          </a:prstGeom>
          <a:solidFill>
            <a:srgbClr val="F5F5F5"/>
          </a:solidFill>
          <a:ln/>
          <a:effectLst>
            <a:outerShdw blurRad="76200" dist="25400" dir="8100000" algn="bl" rotWithShape="0">
              <a:srgbClr val="000000">
                <a:alpha val="8000"/>
              </a:srgbClr>
            </a:outerShdw>
          </a:effectLst>
        </p:spPr>
      </p:sp>
      <p:sp>
        <p:nvSpPr>
          <p:cNvPr id="14" name="Shape 11"/>
          <p:cNvSpPr/>
          <p:nvPr/>
        </p:nvSpPr>
        <p:spPr>
          <a:xfrm>
            <a:off x="4572000" y="2377440"/>
            <a:ext cx="73152" cy="1005840"/>
          </a:xfrm>
          <a:prstGeom prst="rect">
            <a:avLst/>
          </a:prstGeom>
          <a:solidFill>
            <a:srgbClr val="1E2761"/>
          </a:solidFill>
          <a:ln/>
        </p:spPr>
      </p:sp>
      <p:sp>
        <p:nvSpPr>
          <p:cNvPr id="15" name="Text 12"/>
          <p:cNvSpPr/>
          <p:nvPr/>
        </p:nvSpPr>
        <p:spPr>
          <a:xfrm>
            <a:off x="4846320" y="2560320"/>
            <a:ext cx="3657600" cy="685800"/>
          </a:xfrm>
          <a:prstGeom prst="rect">
            <a:avLst/>
          </a:prstGeom>
          <a:noFill/>
          <a:ln/>
        </p:spPr>
        <p:txBody>
          <a:bodyPr wrap="square" rtlCol="0" anchor="ctr"/>
          <a:lstStyle/>
          <a:p>
            <a:pPr marL="0" indent="0">
              <a:buNone/>
            </a:pPr>
            <a:r>
              <a:rPr lang="en-US" sz="1500" b="1" dirty="0">
                <a:solidFill>
                  <a:srgbClr val="2C3E50"/>
                </a:solidFill>
                <a:latin typeface="Calibri" pitchFamily="34" charset="0"/>
                <a:ea typeface="Calibri" pitchFamily="34" charset="-122"/>
                <a:cs typeface="Calibri" pitchFamily="34" charset="-120"/>
              </a:rPr>
              <a:t>Academic &amp; Practical Impact</a:t>
            </a:r>
            <a:endParaRPr lang="en-US" sz="1500" dirty="0"/>
          </a:p>
          <a:p>
            <a:pPr marL="0" indent="0">
              <a:buNone/>
            </a:pPr>
            <a:r>
              <a:rPr lang="en-US" sz="1300" dirty="0">
                <a:solidFill>
                  <a:srgbClr val="64748B"/>
                </a:solidFill>
                <a:latin typeface="Calibri" pitchFamily="34" charset="0"/>
                <a:ea typeface="Calibri" pitchFamily="34" charset="-122"/>
                <a:cs typeface="Calibri" pitchFamily="34" charset="-120"/>
              </a:rPr>
              <a:t>Addresses real-world misinformation challenges with scholarly rigor</a:t>
            </a:r>
            <a:endParaRPr lang="en-US" sz="1500" dirty="0"/>
          </a:p>
        </p:txBody>
      </p:sp>
      <p:sp>
        <p:nvSpPr>
          <p:cNvPr id="16" name="Shape 13"/>
          <p:cNvSpPr/>
          <p:nvPr/>
        </p:nvSpPr>
        <p:spPr>
          <a:xfrm>
            <a:off x="914400" y="3657600"/>
            <a:ext cx="7315200" cy="731520"/>
          </a:xfrm>
          <a:prstGeom prst="rect">
            <a:avLst/>
          </a:prstGeom>
          <a:solidFill>
            <a:srgbClr val="E0F2FE"/>
          </a:solidFill>
          <a:ln/>
        </p:spPr>
      </p:sp>
      <p:sp>
        <p:nvSpPr>
          <p:cNvPr id="17" name="Text 14"/>
          <p:cNvSpPr/>
          <p:nvPr/>
        </p:nvSpPr>
        <p:spPr>
          <a:xfrm>
            <a:off x="914400" y="3657600"/>
            <a:ext cx="7315200" cy="731520"/>
          </a:xfrm>
          <a:prstGeom prst="rect">
            <a:avLst/>
          </a:prstGeom>
          <a:noFill/>
          <a:ln/>
        </p:spPr>
        <p:txBody>
          <a:bodyPr wrap="square" rtlCol="0" anchor="ctr"/>
          <a:lstStyle/>
          <a:p>
            <a:pPr marL="0" indent="0" algn="ctr">
              <a:buNone/>
            </a:pPr>
            <a:r>
              <a:rPr lang="en-US" sz="1400" b="1" dirty="0">
                <a:solidFill>
                  <a:srgbClr val="065A82"/>
                </a:solidFill>
                <a:latin typeface="Calibri" pitchFamily="34" charset="0"/>
                <a:ea typeface="Calibri" pitchFamily="34" charset="-122"/>
                <a:cs typeface="Calibri" pitchFamily="34" charset="-120"/>
              </a:rPr>
              <a:t>This research bridges the gap between multimodal AI and</a:t>
            </a:r>
            <a:endParaRPr lang="en-US" sz="1400" dirty="0"/>
          </a:p>
          <a:p>
            <a:pPr marL="0" indent="0" algn="ctr">
              <a:buNone/>
            </a:pPr>
            <a:r>
              <a:rPr lang="en-US" sz="1400" b="1" dirty="0">
                <a:solidFill>
                  <a:srgbClr val="065A82"/>
                </a:solidFill>
                <a:latin typeface="Calibri" pitchFamily="34" charset="0"/>
                <a:ea typeface="Calibri" pitchFamily="34" charset="-122"/>
                <a:cs typeface="Calibri" pitchFamily="34" charset="-120"/>
              </a:rPr>
              <a:t>real-world fake news detection systems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65760"/>
            <a:ext cx="365760" cy="365760"/>
          </a:xfrm>
          <a:prstGeom prst="rect">
            <a:avLst/>
          </a:prstGeom>
        </p:spPr>
      </p:pic>
      <p:sp>
        <p:nvSpPr>
          <p:cNvPr id="3" name="Text 0"/>
          <p:cNvSpPr/>
          <p:nvPr/>
        </p:nvSpPr>
        <p:spPr>
          <a:xfrm>
            <a:off x="914400" y="411480"/>
            <a:ext cx="7772400" cy="365760"/>
          </a:xfrm>
          <a:prstGeom prst="rect">
            <a:avLst/>
          </a:prstGeom>
          <a:noFill/>
          <a:ln/>
        </p:spPr>
        <p:txBody>
          <a:bodyPr wrap="square" lIns="0" tIns="0" rIns="0" bIns="0" rtlCol="0" anchor="ctr"/>
          <a:lstStyle/>
          <a:p>
            <a:pPr marL="0" indent="0">
              <a:buNone/>
            </a:pPr>
            <a:r>
              <a:rPr lang="en-US" sz="3600" b="1" dirty="0">
                <a:solidFill>
                  <a:srgbClr val="2C3E50"/>
                </a:solidFill>
                <a:latin typeface="Calibri" pitchFamily="34" charset="0"/>
                <a:ea typeface="Calibri" pitchFamily="34" charset="-122"/>
                <a:cs typeface="Calibri" pitchFamily="34" charset="-120"/>
              </a:rPr>
              <a:t>Feasibility &amp; Resources</a:t>
            </a:r>
            <a:endParaRPr lang="en-US" sz="3600" dirty="0"/>
          </a:p>
        </p:txBody>
      </p:sp>
      <p:sp>
        <p:nvSpPr>
          <p:cNvPr id="4" name="Text 1"/>
          <p:cNvSpPr/>
          <p:nvPr/>
        </p:nvSpPr>
        <p:spPr>
          <a:xfrm>
            <a:off x="457200" y="1005840"/>
            <a:ext cx="8229600" cy="27432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This project is realistic and achievable within the CSE499A timeline:</a:t>
            </a:r>
            <a:endParaRPr lang="en-US" sz="1400" dirty="0"/>
          </a:p>
        </p:txBody>
      </p:sp>
      <p:sp>
        <p:nvSpPr>
          <p:cNvPr id="5" name="Shape 2"/>
          <p:cNvSpPr/>
          <p:nvPr/>
        </p:nvSpPr>
        <p:spPr>
          <a:xfrm>
            <a:off x="457200" y="1463040"/>
            <a:ext cx="8229600" cy="731520"/>
          </a:xfrm>
          <a:prstGeom prst="rect">
            <a:avLst/>
          </a:prstGeom>
          <a:solidFill>
            <a:srgbClr val="F5F5F5"/>
          </a:solidFill>
          <a:ln/>
          <a:effectLst>
            <a:outerShdw blurRad="76200" dist="25400" dir="8100000" algn="bl" rotWithShape="0">
              <a:srgbClr val="000000">
                <a:alpha val="8000"/>
              </a:srgbClr>
            </a:outerShdw>
          </a:effectLst>
        </p:spPr>
      </p:sp>
      <p:sp>
        <p:nvSpPr>
          <p:cNvPr id="6" name="Text 3"/>
          <p:cNvSpPr/>
          <p:nvPr/>
        </p:nvSpPr>
        <p:spPr>
          <a:xfrm>
            <a:off x="731520" y="1600200"/>
            <a:ext cx="7772400" cy="457200"/>
          </a:xfrm>
          <a:prstGeom prst="rect">
            <a:avLst/>
          </a:prstGeom>
          <a:noFill/>
          <a:ln/>
        </p:spPr>
        <p:txBody>
          <a:bodyPr wrap="square"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Pretrained Models Available</a:t>
            </a:r>
            <a:endParaRPr lang="en-US" sz="1500" dirty="0"/>
          </a:p>
          <a:p>
            <a:pPr marL="0" indent="0">
              <a:buNone/>
            </a:pPr>
            <a:r>
              <a:rPr lang="en-US" sz="1300" dirty="0">
                <a:solidFill>
                  <a:srgbClr val="64748B"/>
                </a:solidFill>
                <a:latin typeface="Calibri" pitchFamily="34" charset="0"/>
                <a:ea typeface="Calibri" pitchFamily="34" charset="-122"/>
                <a:cs typeface="Calibri" pitchFamily="34" charset="-120"/>
              </a:rPr>
              <a:t>No need to train models from scratch — leveraging CLIP, BLIP, and BERT via HuggingFace reduces computational requirements</a:t>
            </a:r>
            <a:endParaRPr lang="en-US" sz="1500" dirty="0"/>
          </a:p>
        </p:txBody>
      </p:sp>
      <p:sp>
        <p:nvSpPr>
          <p:cNvPr id="7" name="Shape 4"/>
          <p:cNvSpPr/>
          <p:nvPr/>
        </p:nvSpPr>
        <p:spPr>
          <a:xfrm>
            <a:off x="457200" y="2377440"/>
            <a:ext cx="8229600" cy="731520"/>
          </a:xfrm>
          <a:prstGeom prst="rect">
            <a:avLst/>
          </a:prstGeom>
          <a:solidFill>
            <a:srgbClr val="F5F5F5"/>
          </a:solidFill>
          <a:ln/>
          <a:effectLst>
            <a:outerShdw blurRad="76200" dist="25400" dir="8100000" algn="bl" rotWithShape="0">
              <a:srgbClr val="000000">
                <a:alpha val="8000"/>
              </a:srgbClr>
            </a:outerShdw>
          </a:effectLst>
        </p:spPr>
      </p:sp>
      <p:sp>
        <p:nvSpPr>
          <p:cNvPr id="8" name="Text 5"/>
          <p:cNvSpPr/>
          <p:nvPr/>
        </p:nvSpPr>
        <p:spPr>
          <a:xfrm>
            <a:off x="731520" y="2514600"/>
            <a:ext cx="7772400" cy="457200"/>
          </a:xfrm>
          <a:prstGeom prst="rect">
            <a:avLst/>
          </a:prstGeom>
          <a:noFill/>
          <a:ln/>
        </p:spPr>
        <p:txBody>
          <a:bodyPr wrap="square"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Open-Source Frameworks</a:t>
            </a:r>
            <a:endParaRPr lang="en-US" sz="1500" dirty="0"/>
          </a:p>
          <a:p>
            <a:pPr marL="0" indent="0">
              <a:buNone/>
            </a:pPr>
            <a:r>
              <a:rPr lang="en-US" sz="1300" dirty="0">
                <a:solidFill>
                  <a:srgbClr val="64748B"/>
                </a:solidFill>
                <a:latin typeface="Calibri" pitchFamily="34" charset="0"/>
                <a:ea typeface="Calibri" pitchFamily="34" charset="-122"/>
                <a:cs typeface="Calibri" pitchFamily="34" charset="-120"/>
              </a:rPr>
              <a:t>PyTorch, Transformers library, and standard ML packages provide all necessary tools for implementation</a:t>
            </a:r>
            <a:endParaRPr lang="en-US" sz="1500" dirty="0"/>
          </a:p>
        </p:txBody>
      </p:sp>
      <p:sp>
        <p:nvSpPr>
          <p:cNvPr id="9" name="Shape 6"/>
          <p:cNvSpPr/>
          <p:nvPr/>
        </p:nvSpPr>
        <p:spPr>
          <a:xfrm>
            <a:off x="457200" y="3291840"/>
            <a:ext cx="8229600" cy="731520"/>
          </a:xfrm>
          <a:prstGeom prst="rect">
            <a:avLst/>
          </a:prstGeom>
          <a:solidFill>
            <a:srgbClr val="F5F5F5"/>
          </a:solidFill>
          <a:ln/>
          <a:effectLst>
            <a:outerShdw blurRad="76200" dist="25400" dir="8100000" algn="bl" rotWithShape="0">
              <a:srgbClr val="000000">
                <a:alpha val="8000"/>
              </a:srgbClr>
            </a:outerShdw>
          </a:effectLst>
        </p:spPr>
      </p:sp>
      <p:sp>
        <p:nvSpPr>
          <p:cNvPr id="10" name="Text 7"/>
          <p:cNvSpPr/>
          <p:nvPr/>
        </p:nvSpPr>
        <p:spPr>
          <a:xfrm>
            <a:off x="731520" y="3429000"/>
            <a:ext cx="7772400" cy="457200"/>
          </a:xfrm>
          <a:prstGeom prst="rect">
            <a:avLst/>
          </a:prstGeom>
          <a:noFill/>
          <a:ln/>
        </p:spPr>
        <p:txBody>
          <a:bodyPr wrap="square" rtlCol="0" anchor="ctr"/>
          <a:lstStyle/>
          <a:p>
            <a:pPr marL="0" indent="0">
              <a:buNone/>
            </a:pPr>
            <a:r>
              <a:rPr lang="en-US" sz="1500" b="1" dirty="0">
                <a:solidFill>
                  <a:srgbClr val="00A896"/>
                </a:solidFill>
                <a:latin typeface="Calibri" pitchFamily="34" charset="0"/>
                <a:ea typeface="Calibri" pitchFamily="34" charset="-122"/>
                <a:cs typeface="Calibri" pitchFamily="34" charset="-120"/>
              </a:rPr>
              <a:t>Moderate GPU Requirements</a:t>
            </a:r>
            <a:endParaRPr lang="en-US" sz="1500" dirty="0"/>
          </a:p>
          <a:p>
            <a:pPr marL="0" indent="0">
              <a:buNone/>
            </a:pPr>
            <a:r>
              <a:rPr lang="en-US" sz="1300" dirty="0">
                <a:solidFill>
                  <a:srgbClr val="64748B"/>
                </a:solidFill>
                <a:latin typeface="Calibri" pitchFamily="34" charset="0"/>
                <a:ea typeface="Calibri" pitchFamily="34" charset="-122"/>
                <a:cs typeface="Calibri" pitchFamily="34" charset="-120"/>
              </a:rPr>
              <a:t>Google Colab Pro or university GPU cluster sufficient for training and evaluation</a:t>
            </a:r>
            <a:endParaRPr lang="en-US" sz="1500" dirty="0"/>
          </a:p>
        </p:txBody>
      </p:sp>
      <p:sp>
        <p:nvSpPr>
          <p:cNvPr id="11" name="Shape 8"/>
          <p:cNvSpPr/>
          <p:nvPr/>
        </p:nvSpPr>
        <p:spPr>
          <a:xfrm>
            <a:off x="457200" y="4206240"/>
            <a:ext cx="8229600" cy="731520"/>
          </a:xfrm>
          <a:prstGeom prst="rect">
            <a:avLst/>
          </a:prstGeom>
          <a:solidFill>
            <a:srgbClr val="F5F5F5"/>
          </a:solidFill>
          <a:ln/>
          <a:effectLst>
            <a:outerShdw blurRad="76200" dist="25400" dir="8100000" algn="bl" rotWithShape="0">
              <a:srgbClr val="000000">
                <a:alpha val="8000"/>
              </a:srgbClr>
            </a:outerShdw>
          </a:effectLst>
        </p:spPr>
      </p:sp>
      <p:sp>
        <p:nvSpPr>
          <p:cNvPr id="12" name="Text 9"/>
          <p:cNvSpPr/>
          <p:nvPr/>
        </p:nvSpPr>
        <p:spPr>
          <a:xfrm>
            <a:off x="731520" y="4343400"/>
            <a:ext cx="7772400" cy="4572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Realistic Development Timeline</a:t>
            </a:r>
            <a:endParaRPr lang="en-US" sz="1500" dirty="0"/>
          </a:p>
          <a:p>
            <a:pPr marL="0" indent="0">
              <a:buNone/>
            </a:pPr>
            <a:r>
              <a:rPr lang="en-US" sz="1300" dirty="0">
                <a:solidFill>
                  <a:srgbClr val="64748B"/>
                </a:solidFill>
                <a:latin typeface="Calibri" pitchFamily="34" charset="0"/>
                <a:ea typeface="Calibri" pitchFamily="34" charset="-122"/>
                <a:cs typeface="Calibri" pitchFamily="34" charset="-120"/>
              </a:rPr>
              <a:t>2-3 months for implementation, training, and evaluation — well within semester constraints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1828800"/>
            <a:ext cx="8229600" cy="548640"/>
          </a:xfrm>
          <a:prstGeom prst="rect">
            <a:avLst/>
          </a:prstGeom>
          <a:noFill/>
          <a:ln/>
        </p:spPr>
        <p:txBody>
          <a:bodyPr wrap="square"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3200400" y="2560320"/>
            <a:ext cx="2743200" cy="18288"/>
          </a:xfrm>
          <a:prstGeom prst="rect">
            <a:avLst/>
          </a:prstGeom>
          <a:solidFill>
            <a:srgbClr val="00A896"/>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903</Words>
  <Application>Microsoft Office PowerPoint</Application>
  <PresentationFormat>On-screen Show (16:9)</PresentationFormat>
  <Paragraphs>138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Inconsistency-Aware Multimodal Misinformation Detection</dc:title>
  <dc:subject>PptxGenJS Presentation</dc:subject>
  <dc:creator>CSE499A Team</dc:creator>
  <cp:lastModifiedBy>Israt Zaman Srity</cp:lastModifiedBy>
  <cp:revision>3</cp:revision>
  <dcterms:created xsi:type="dcterms:W3CDTF">2026-02-11T14:41:08Z</dcterms:created>
  <dcterms:modified xsi:type="dcterms:W3CDTF">2026-02-11T15:02:47Z</dcterms:modified>
</cp:coreProperties>
</file>