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WER</c:v>
                </c:pt>
              </c:strCache>
            </c:strRef>
          </c:tx>
          <c:spPr>
            <a:solidFill>
              <a:srgbClr val="475569">
                <a:alpha val="100000"/>
              </a:srgbClr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47556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0A2-4035-9685-6F3D43DE4A07}"/>
              </c:ext>
            </c:extLst>
          </c:dPt>
          <c:dPt>
            <c:idx val="1"/>
            <c:invertIfNegative val="0"/>
            <c:bubble3D val="0"/>
            <c:spPr>
              <a:solidFill>
                <a:srgbClr val="47556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0A2-4035-9685-6F3D43DE4A07}"/>
              </c:ext>
            </c:extLst>
          </c:dPt>
          <c:dPt>
            <c:idx val="2"/>
            <c:invertIfNegative val="0"/>
            <c:bubble3D val="0"/>
            <c:spPr>
              <a:solidFill>
                <a:srgbClr val="47556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0A2-4035-9685-6F3D43DE4A07}"/>
              </c:ext>
            </c:extLst>
          </c:dPt>
          <c:dPt>
            <c:idx val="3"/>
            <c:invertIfNegative val="0"/>
            <c:bubble3D val="0"/>
            <c:spPr>
              <a:solidFill>
                <a:srgbClr val="47556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0A2-4035-9685-6F3D43DE4A07}"/>
              </c:ext>
            </c:extLst>
          </c:dPt>
          <c:dPt>
            <c:idx val="4"/>
            <c:invertIfNegative val="0"/>
            <c:bubble3D val="0"/>
            <c:spPr>
              <a:solidFill>
                <a:srgbClr val="47556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0A2-4035-9685-6F3D43DE4A07}"/>
              </c:ext>
            </c:extLst>
          </c:dPt>
          <c:dPt>
            <c:idx val="5"/>
            <c:invertIfNegative val="0"/>
            <c:bubble3D val="0"/>
            <c:spPr>
              <a:solidFill>
                <a:srgbClr val="47556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0A2-4035-9685-6F3D43DE4A07}"/>
              </c:ext>
            </c:extLst>
          </c:dPt>
          <c:dPt>
            <c:idx val="6"/>
            <c:invertIfNegative val="0"/>
            <c:bubble3D val="0"/>
            <c:spPr>
              <a:solidFill>
                <a:srgbClr val="47556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0A2-4035-9685-6F3D43DE4A07}"/>
              </c:ext>
            </c:extLst>
          </c:dPt>
          <c:dPt>
            <c:idx val="7"/>
            <c:invertIfNegative val="0"/>
            <c:bubble3D val="0"/>
            <c:spPr>
              <a:solidFill>
                <a:srgbClr val="47556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0A2-4035-9685-6F3D43DE4A07}"/>
              </c:ext>
            </c:extLst>
          </c:dPt>
          <c:dPt>
            <c:idx val="8"/>
            <c:invertIfNegative val="0"/>
            <c:bubble3D val="0"/>
            <c:spPr>
              <a:solidFill>
                <a:srgbClr val="47556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0A2-4035-9685-6F3D43DE4A07}"/>
              </c:ext>
            </c:extLst>
          </c:dPt>
          <c:dPt>
            <c:idx val="9"/>
            <c:invertIfNegative val="0"/>
            <c:bubble3D val="0"/>
            <c:spPr>
              <a:solidFill>
                <a:srgbClr val="47556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E0A2-4035-9685-6F3D43DE4A07}"/>
              </c:ext>
            </c:extLst>
          </c:dPt>
          <c:dPt>
            <c:idx val="10"/>
            <c:invertIfNegative val="0"/>
            <c:bubble3D val="0"/>
            <c:spPr>
              <a:solidFill>
                <a:srgbClr val="47556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5-E0A2-4035-9685-6F3D43DE4A07}"/>
              </c:ext>
            </c:extLst>
          </c:dPt>
          <c:dPt>
            <c:idx val="11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7-E0A2-4035-9685-6F3D43DE4A07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Whisper Small</c:v>
                </c:pt>
                <c:pt idx="1">
                  <c:v>Whisper Medium</c:v>
                </c:pt>
                <c:pt idx="2">
                  <c:v>Whisper-v3 Turbo</c:v>
                </c:pt>
                <c:pt idx="3">
                  <c:v>Wav2Vec2-XLSR-53-Bn</c:v>
                </c:pt>
                <c:pt idx="4">
                  <c:v>Whisper Large-v3</c:v>
                </c:pt>
                <c:pt idx="5">
                  <c:v>SeamlessM4T</c:v>
                </c:pt>
                <c:pt idx="6">
                  <c:v>Wav2Vec2-XLSR-300M-Bn</c:v>
                </c:pt>
                <c:pt idx="7">
                  <c:v>Wav2Vec2-XLSR-CV-Bn</c:v>
                </c:pt>
                <c:pt idx="8">
                  <c:v>Vakyansh-Bn</c:v>
                </c:pt>
                <c:pt idx="9">
                  <c:v>MMS</c:v>
                </c:pt>
                <c:pt idx="10">
                  <c:v>BengaliAI Whisper</c:v>
                </c:pt>
                <c:pt idx="11">
                  <c:v>BengaliAI Regional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195.8</c:v>
                </c:pt>
                <c:pt idx="1">
                  <c:v>116.8</c:v>
                </c:pt>
                <c:pt idx="2">
                  <c:v>102.6</c:v>
                </c:pt>
                <c:pt idx="3">
                  <c:v>100.2</c:v>
                </c:pt>
                <c:pt idx="4">
                  <c:v>91</c:v>
                </c:pt>
                <c:pt idx="5">
                  <c:v>76.8</c:v>
                </c:pt>
                <c:pt idx="6">
                  <c:v>70.2</c:v>
                </c:pt>
                <c:pt idx="7">
                  <c:v>68.099999999999994</c:v>
                </c:pt>
                <c:pt idx="8">
                  <c:v>61.4</c:v>
                </c:pt>
                <c:pt idx="9">
                  <c:v>55.7</c:v>
                </c:pt>
                <c:pt idx="10">
                  <c:v>50.5</c:v>
                </c:pt>
                <c:pt idx="11">
                  <c:v>46.9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8-E0A2-4035-9685-6F3D43DE4A0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4748B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64748B"/>
                    </a:solidFill>
                    <a:latin typeface="Calibri"/>
                  </a:rPr>
                  <a:t>WER %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WER</c:v>
                </c:pt>
              </c:strCache>
            </c:strRef>
          </c:tx>
          <c:spPr>
            <a:solidFill>
              <a:srgbClr val="0D9488">
                <a:alpha val="100000"/>
              </a:srgbClr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B6B-445D-BF71-BB56FE5B6F49}"/>
              </c:ext>
            </c:extLst>
          </c:dPt>
          <c:dPt>
            <c:idx val="1"/>
            <c:invertIfNegative val="0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B6B-445D-BF71-BB56FE5B6F49}"/>
              </c:ext>
            </c:extLst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B6B-445D-BF71-BB56FE5B6F49}"/>
              </c:ext>
            </c:extLst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B6B-445D-BF71-BB56FE5B6F49}"/>
              </c:ext>
            </c:extLst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B6B-445D-BF71-BB56FE5B6F49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BengaliAI Regional
(small, specialized)</c:v>
                </c:pt>
                <c:pt idx="1">
                  <c:v>Qwen2-Audio
(via English)</c:v>
                </c:pt>
                <c:pt idx="2">
                  <c:v>Qwen2-Audio
(direct)</c:v>
                </c:pt>
                <c:pt idx="3">
                  <c:v>Qwen3-ASR-1.7B</c:v>
                </c:pt>
                <c:pt idx="4">
                  <c:v>Voxtral Mini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46.9</c:v>
                </c:pt>
                <c:pt idx="1">
                  <c:v>100.4</c:v>
                </c:pt>
                <c:pt idx="2">
                  <c:v>108.4</c:v>
                </c:pt>
                <c:pt idx="3">
                  <c:v>113.4</c:v>
                </c:pt>
                <c:pt idx="4">
                  <c:v>136.30000000000001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CB6B-445D-BF71-BB56FE5B6F4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40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4713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7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0"/>
            <a:ext cx="4297680" cy="6858000"/>
          </a:xfrm>
          <a:prstGeom prst="rect">
            <a:avLst/>
          </a:prstGeom>
          <a:solidFill>
            <a:srgbClr val="081627"/>
          </a:solidFill>
          <a:ln/>
        </p:spPr>
      </p:sp>
      <p:sp>
        <p:nvSpPr>
          <p:cNvPr id="3" name="Shape 1"/>
          <p:cNvSpPr/>
          <p:nvPr/>
        </p:nvSpPr>
        <p:spPr>
          <a:xfrm>
            <a:off x="7863840" y="0"/>
            <a:ext cx="54864" cy="68580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CSE499A  ·  SENIOR DESIGN 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EHR-Based Pre-Consultation</a:t>
            </a:r>
            <a:endParaRPr lang="en-US" sz="38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Documentation System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 speech, dialect-aware, turned into a structured EHR</a:t>
            </a:r>
            <a:endParaRPr lang="en-US" sz="1600" dirty="0"/>
          </a:p>
          <a:p>
            <a:pPr marL="0" indent="0" algn="l">
              <a:buNone/>
            </a:pPr>
            <a:r>
              <a:rPr lang="en-US" sz="16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doctor walks in.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7040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building</a:t>
            </a:r>
            <a:endParaRPr lang="en-US" sz="1300" dirty="0"/>
          </a:p>
          <a:p>
            <a:pPr marL="0" indent="0" algn="l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 algn="just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describes symptoms in natural Bangla — including dialects and code-mixed English — to a voice-enabled device while waiting. The system transcribes the speech, extracts clinically relevant entities (symptoms, medications, duration, allergies), and delivers a structured Electronic Health Record with differential-diagnosis hints to the doctor's screen, so the consultation can focus on examination and decision-making instead of paperwork.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3504" y="5292012"/>
            <a:ext cx="6949440" cy="228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5455726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24216" y="576072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Rafiur Rahman Mashrafi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2221971042</a:t>
            </a: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G. Rabbi Hossen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2222516042</a:t>
            </a: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Israt Zaman Srity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2211084042</a:t>
            </a:r>
            <a:endParaRPr lang="en-US" sz="1100" dirty="0"/>
          </a:p>
        </p:txBody>
      </p:sp>
      <p:sp>
        <p:nvSpPr>
          <p:cNvPr id="12" name="Text 10">
            <a:hlinkClick r:id="" action="ppaction://noaction"/>
          </p:cNvPr>
          <p:cNvSpPr/>
          <p:nvPr/>
        </p:nvSpPr>
        <p:spPr>
          <a:xfrm>
            <a:off x="512064" y="6405489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u="sng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en-US" sz="900" u="sng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 </a:t>
            </a:r>
            <a:r>
              <a:rPr lang="en-US" sz="900" u="sng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github.com/RRM006/cse499-project-temp-azk-2026</a:t>
            </a:r>
            <a:endParaRPr lang="en-US" sz="900" dirty="0"/>
          </a:p>
        </p:txBody>
      </p:sp>
      <p:sp>
        <p:nvSpPr>
          <p:cNvPr id="13" name="Text 11">
            <a:hlinkClick r:id="" action="ppaction://noaction"/>
          </p:cNvPr>
          <p:cNvSpPr/>
          <p:nvPr/>
        </p:nvSpPr>
        <p:spPr>
          <a:xfrm>
            <a:off x="4617720" y="64236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u="sng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DRIVE </a:t>
            </a:r>
            <a:r>
              <a:rPr lang="en-US" sz="900" u="sng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·  </a:t>
            </a:r>
            <a:r>
              <a:rPr lang="en-US" sz="900" u="sng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drive.google.com/.../1CSJt9yyZX...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509760" y="1097280"/>
            <a:ext cx="1005840" cy="1005840"/>
          </a:xfrm>
          <a:prstGeom prst="ellipse">
            <a:avLst/>
          </a:prstGeom>
          <a:solidFill>
            <a:srgbClr val="0D9488"/>
          </a:solidFill>
          <a:ln/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0" y="1325880"/>
            <a:ext cx="548640" cy="5486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183880" y="23774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4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ADVISOR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092440" y="26517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Dr. Mohammad Ashrafuzzaman Khan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092440" y="30175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AzK ]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092440" y="3291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 Professor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092440" y="370332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Ph.D., Computer Science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Jersey Institute of Technology</a:t>
            </a:r>
            <a:endParaRPr lang="en-US" sz="11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B.Sc., CSE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BUET, Dhaka, Bangladesh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412480" y="5897880"/>
            <a:ext cx="3200400" cy="228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2" name="Text 19"/>
          <p:cNvSpPr/>
          <p:nvPr/>
        </p:nvSpPr>
        <p:spPr>
          <a:xfrm>
            <a:off x="8092440" y="60350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Electrical &amp; Computer Engineering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092440" y="62636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North South University</a:t>
            </a:r>
            <a:endParaRPr lang="en-US" sz="12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41FBB1E9-13FC-46D2-A995-7614C6A2C6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6566" y="6236071"/>
            <a:ext cx="522165" cy="52216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EE5E5CE-DEF6-4A2B-BB48-AAD1F4050A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5689" y="6242322"/>
            <a:ext cx="509661" cy="50966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" name="Text 1"/>
          <p:cNvSpPr/>
          <p:nvPr/>
        </p:nvSpPr>
        <p:spPr>
          <a:xfrm>
            <a:off x="5760720" y="29260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b="1" kern="0" spc="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 /  PIPELINE</a:t>
            </a: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0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system works, end-to-end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Pre-Consultation System  ·  CSE499A  ·  NSU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stages from spoken Bangla to a doctor-ready record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1828800"/>
            <a:ext cx="2103120" cy="2286000"/>
          </a:xfrm>
          <a:prstGeom prst="rect">
            <a:avLst/>
          </a:prstGeom>
          <a:solidFill>
            <a:srgbClr val="0F2747"/>
          </a:solidFill>
          <a:ln/>
          <a:effectLst>
            <a:outerShdw blurRad="101600" dist="25400" dir="5400000" algn="bl" rotWithShape="0">
              <a:srgbClr val="0F2747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4360" y="1828800"/>
            <a:ext cx="2103120" cy="54864"/>
          </a:xfrm>
          <a:prstGeom prst="rect">
            <a:avLst/>
          </a:prstGeom>
          <a:solidFill>
            <a:srgbClr val="5EEAD4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2194560"/>
            <a:ext cx="640080" cy="640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29260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01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85800" y="3200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Speech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85800" y="36118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Bangla, dialects,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English</a:t>
            </a:r>
            <a:endParaRPr lang="en-US" sz="10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6624" y="2880360"/>
            <a:ext cx="182880" cy="1828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2898648" y="1828800"/>
            <a:ext cx="2103120" cy="2286000"/>
          </a:xfrm>
          <a:prstGeom prst="rect">
            <a:avLst/>
          </a:prstGeom>
          <a:solidFill>
            <a:srgbClr val="0F2747"/>
          </a:solidFill>
          <a:ln/>
          <a:effectLst>
            <a:outerShdw blurRad="101600" dist="25400" dir="5400000" algn="bl" rotWithShape="0">
              <a:srgbClr val="0F2747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2898648" y="1828800"/>
            <a:ext cx="2103120" cy="54864"/>
          </a:xfrm>
          <a:prstGeom prst="rect">
            <a:avLst/>
          </a:prstGeom>
          <a:solidFill>
            <a:srgbClr val="5EEAD4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0168" y="2194560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898648" y="29260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02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2990088" y="3200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ASR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2990088" y="36118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Bangla-tuned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recognition</a:t>
            </a:r>
            <a:endParaRPr lang="en-US" sz="10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2880360"/>
            <a:ext cx="182880" cy="18288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5202936" y="1828800"/>
            <a:ext cx="2103120" cy="2286000"/>
          </a:xfrm>
          <a:prstGeom prst="rect">
            <a:avLst/>
          </a:prstGeom>
          <a:solidFill>
            <a:srgbClr val="0F2747"/>
          </a:solidFill>
          <a:ln/>
          <a:effectLst>
            <a:outerShdw blurRad="101600" dist="25400" dir="5400000" algn="bl" rotWithShape="0">
              <a:srgbClr val="0F2747">
                <a:alpha val="1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5202936" y="1828800"/>
            <a:ext cx="2103120" cy="54864"/>
          </a:xfrm>
          <a:prstGeom prst="rect">
            <a:avLst/>
          </a:prstGeom>
          <a:solidFill>
            <a:srgbClr val="5EEAD4"/>
          </a:solidFill>
          <a:ln/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4456" y="2194560"/>
            <a:ext cx="640080" cy="64008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202936" y="29260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03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5294376" y="3200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NER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5294376" y="36118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 · Meds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· Allergies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2880360"/>
            <a:ext cx="182880" cy="18288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7507224" y="1828800"/>
            <a:ext cx="2103120" cy="2286000"/>
          </a:xfrm>
          <a:prstGeom prst="rect">
            <a:avLst/>
          </a:prstGeom>
          <a:solidFill>
            <a:srgbClr val="0F2747"/>
          </a:solidFill>
          <a:ln/>
          <a:effectLst>
            <a:outerShdw blurRad="101600" dist="25400" dir="5400000" algn="bl" rotWithShape="0">
              <a:srgbClr val="0F2747">
                <a:alpha val="18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7507224" y="1828800"/>
            <a:ext cx="2103120" cy="54864"/>
          </a:xfrm>
          <a:prstGeom prst="rect">
            <a:avLst/>
          </a:prstGeom>
          <a:solidFill>
            <a:srgbClr val="5EEAD4"/>
          </a:solidFill>
          <a:ln/>
        </p:spPr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8744" y="2194560"/>
            <a:ext cx="640080" cy="64008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7507224" y="29260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04</a:t>
            </a:r>
            <a:endParaRPr lang="en-US" sz="900" dirty="0"/>
          </a:p>
        </p:txBody>
      </p:sp>
      <p:sp>
        <p:nvSpPr>
          <p:cNvPr id="32" name="Text 23"/>
          <p:cNvSpPr/>
          <p:nvPr/>
        </p:nvSpPr>
        <p:spPr>
          <a:xfrm>
            <a:off x="7598664" y="3200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 EHR</a:t>
            </a:r>
            <a:endParaRPr lang="en-US" sz="1400" dirty="0"/>
          </a:p>
        </p:txBody>
      </p:sp>
      <p:sp>
        <p:nvSpPr>
          <p:cNvPr id="33" name="Text 24"/>
          <p:cNvSpPr/>
          <p:nvPr/>
        </p:nvSpPr>
        <p:spPr>
          <a:xfrm>
            <a:off x="7598664" y="36118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record</a:t>
            </a:r>
            <a:endParaRPr lang="en-US" sz="1000" dirty="0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9488" y="2880360"/>
            <a:ext cx="182880" cy="182880"/>
          </a:xfrm>
          <a:prstGeom prst="rect">
            <a:avLst/>
          </a:prstGeom>
        </p:spPr>
      </p:pic>
      <p:sp>
        <p:nvSpPr>
          <p:cNvPr id="35" name="Shape 25"/>
          <p:cNvSpPr/>
          <p:nvPr/>
        </p:nvSpPr>
        <p:spPr>
          <a:xfrm>
            <a:off x="9811512" y="1828800"/>
            <a:ext cx="2103120" cy="2286000"/>
          </a:xfrm>
          <a:prstGeom prst="rect">
            <a:avLst/>
          </a:prstGeom>
          <a:solidFill>
            <a:srgbClr val="0F2747"/>
          </a:solidFill>
          <a:ln/>
          <a:effectLst>
            <a:outerShdw blurRad="101600" dist="25400" dir="5400000" algn="bl" rotWithShape="0">
              <a:srgbClr val="0F2747">
                <a:alpha val="18000"/>
              </a:srgbClr>
            </a:outerShdw>
          </a:effectLst>
        </p:spPr>
      </p:sp>
      <p:sp>
        <p:nvSpPr>
          <p:cNvPr id="36" name="Shape 26"/>
          <p:cNvSpPr/>
          <p:nvPr/>
        </p:nvSpPr>
        <p:spPr>
          <a:xfrm>
            <a:off x="9811512" y="1828800"/>
            <a:ext cx="2103120" cy="54864"/>
          </a:xfrm>
          <a:prstGeom prst="rect">
            <a:avLst/>
          </a:prstGeom>
          <a:solidFill>
            <a:srgbClr val="5EEAD4"/>
          </a:solidFill>
          <a:ln/>
        </p:spPr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43032" y="2194560"/>
            <a:ext cx="640080" cy="640080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9811512" y="29260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05</a:t>
            </a:r>
            <a:endParaRPr lang="en-US" sz="900" dirty="0"/>
          </a:p>
        </p:txBody>
      </p:sp>
      <p:sp>
        <p:nvSpPr>
          <p:cNvPr id="39" name="Text 28"/>
          <p:cNvSpPr/>
          <p:nvPr/>
        </p:nvSpPr>
        <p:spPr>
          <a:xfrm>
            <a:off x="9902952" y="3200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 Dashboard</a:t>
            </a:r>
            <a:endParaRPr lang="en-US" sz="1400" dirty="0"/>
          </a:p>
        </p:txBody>
      </p:sp>
      <p:sp>
        <p:nvSpPr>
          <p:cNvPr id="40" name="Text 29"/>
          <p:cNvSpPr/>
          <p:nvPr/>
        </p:nvSpPr>
        <p:spPr>
          <a:xfrm>
            <a:off x="9902952" y="36118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hints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original transcript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502920" y="4617720"/>
            <a:ext cx="11155680" cy="141732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42" name="Shape 31"/>
          <p:cNvSpPr/>
          <p:nvPr/>
        </p:nvSpPr>
        <p:spPr>
          <a:xfrm>
            <a:off x="502920" y="4617720"/>
            <a:ext cx="73152" cy="1417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3" name="Text 32"/>
          <p:cNvSpPr/>
          <p:nvPr/>
        </p:nvSpPr>
        <p:spPr>
          <a:xfrm>
            <a:off x="77724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DESIGN</a:t>
            </a:r>
            <a:endParaRPr lang="en-US" sz="1000" dirty="0"/>
          </a:p>
        </p:txBody>
      </p:sp>
      <p:sp>
        <p:nvSpPr>
          <p:cNvPr id="44" name="Text 33"/>
          <p:cNvSpPr/>
          <p:nvPr/>
        </p:nvSpPr>
        <p:spPr>
          <a:xfrm>
            <a:off x="777240" y="502920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27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walks in already knowing the patient's story. 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normally lost to history-taking and typing notes is reclaimed for examination and decision-making. The AI assists; the doctor decides. The original transcript stays attached to the EHR so the doctor can verify any extraction at a glance.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" name="Text 1"/>
          <p:cNvSpPr/>
          <p:nvPr/>
        </p:nvSpPr>
        <p:spPr>
          <a:xfrm>
            <a:off x="5760720" y="29260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b="1" kern="0" spc="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 /  CORE CHALLENGE</a:t>
            </a: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0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hard part: real Bangladeshi clinical speech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Pre-Consultation System  ·  CSE499A  ·  NSU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in Bangladesh do not speak in textbook Bangla. The ASR has to handle how people actually talk in a clinic.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5486400" cy="12801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874520"/>
            <a:ext cx="54864" cy="12801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2103120"/>
            <a:ext cx="640080" cy="640080"/>
          </a:xfrm>
          <a:prstGeom prst="ellipse">
            <a:avLst/>
          </a:prstGeom>
          <a:solidFill>
            <a:srgbClr val="ECFDF5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258568"/>
            <a:ext cx="329184" cy="32918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508760" y="20391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Regional dialects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508760" y="2377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Sylheti, Chittagonian, Barishali, Dhakaiya (Puran Dhaka), Indian Bangla — significantly different in pronunciation, vocabulary, and grammar.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3319272"/>
            <a:ext cx="5486400" cy="12801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2920" y="3319272"/>
            <a:ext cx="54864" cy="12801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5" name="Shape 12"/>
          <p:cNvSpPr/>
          <p:nvPr/>
        </p:nvSpPr>
        <p:spPr>
          <a:xfrm>
            <a:off x="731520" y="3547872"/>
            <a:ext cx="640080" cy="640080"/>
          </a:xfrm>
          <a:prstGeom prst="ellipse">
            <a:avLst/>
          </a:prstGeom>
          <a:solidFill>
            <a:srgbClr val="ECFDF5"/>
          </a:solidFill>
          <a:ln/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703320"/>
            <a:ext cx="329184" cy="32918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508760" y="34838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Bangla–English code-mixing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1508760" y="38221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freely mix English medical and everyday terms into Bangla sentences — e.g., "gas-er problem, sathe pressure low hoye jay".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502920" y="4764024"/>
            <a:ext cx="5486400" cy="128016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02920" y="4764024"/>
            <a:ext cx="54864" cy="12801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1" name="Shape 17"/>
          <p:cNvSpPr/>
          <p:nvPr/>
        </p:nvSpPr>
        <p:spPr>
          <a:xfrm>
            <a:off x="731520" y="4992624"/>
            <a:ext cx="640080" cy="640080"/>
          </a:xfrm>
          <a:prstGeom prst="ellipse">
            <a:avLst/>
          </a:prstGeom>
          <a:solidFill>
            <a:srgbClr val="ECFDF5"/>
          </a:solidFill>
          <a:ln/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5148072"/>
            <a:ext cx="329184" cy="32918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508760" y="492861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Informal, unscripted speech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1508760" y="5266944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Hesitations, repetitions, colloquial expressions, and incomplete sentences. Existing models trained on news and audiobooks break down on this.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6263640" y="1874520"/>
            <a:ext cx="5440680" cy="416052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26" name="Shape 21"/>
          <p:cNvSpPr/>
          <p:nvPr/>
        </p:nvSpPr>
        <p:spPr>
          <a:xfrm>
            <a:off x="6263640" y="1874520"/>
            <a:ext cx="5440680" cy="54864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27" name="Text 22"/>
          <p:cNvSpPr/>
          <p:nvPr/>
        </p:nvSpPr>
        <p:spPr>
          <a:xfrm>
            <a:off x="6537960" y="20574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DATA COLLECTED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6537960" y="233172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Multi-dialect Bangla audio corpus</a:t>
            </a:r>
            <a:endParaRPr lang="en-US" sz="1800" dirty="0"/>
          </a:p>
        </p:txBody>
      </p:sp>
      <p:sp>
        <p:nvSpPr>
          <p:cNvPr id="29" name="Text 24"/>
          <p:cNvSpPr/>
          <p:nvPr/>
        </p:nvSpPr>
        <p:spPr>
          <a:xfrm>
            <a:off x="6537960" y="2834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4.7</a:t>
            </a:r>
            <a:endParaRPr lang="en-US" sz="6000" dirty="0"/>
          </a:p>
        </p:txBody>
      </p:sp>
      <p:sp>
        <p:nvSpPr>
          <p:cNvPr id="30" name="Text 25"/>
          <p:cNvSpPr/>
          <p:nvPr/>
        </p:nvSpPr>
        <p:spPr>
          <a:xfrm>
            <a:off x="6537960" y="3566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of raw audio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9006840" y="283464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32" name="Text 27"/>
          <p:cNvSpPr/>
          <p:nvPr/>
        </p:nvSpPr>
        <p:spPr>
          <a:xfrm>
            <a:off x="9006840" y="3566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dialects covered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6537960" y="4023360"/>
            <a:ext cx="4892040" cy="13716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4" name="Text 29"/>
          <p:cNvSpPr/>
          <p:nvPr/>
        </p:nvSpPr>
        <p:spPr>
          <a:xfrm>
            <a:off x="6537960" y="4160520"/>
            <a:ext cx="4892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DIALECTS IN THE CORPUS</a:t>
            </a:r>
            <a:endParaRPr lang="en-US" sz="900" dirty="0"/>
          </a:p>
        </p:txBody>
      </p:sp>
      <p:sp>
        <p:nvSpPr>
          <p:cNvPr id="35" name="Text 30"/>
          <p:cNvSpPr/>
          <p:nvPr/>
        </p:nvSpPr>
        <p:spPr>
          <a:xfrm>
            <a:off x="6537960" y="4416552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Puran Dhaka (Dhakaiya)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Barishali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Sylheti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Bangla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Bangla</a:t>
            </a:r>
            <a:endParaRPr lang="en-US" sz="1200" dirty="0"/>
          </a:p>
        </p:txBody>
      </p:sp>
      <p:sp>
        <p:nvSpPr>
          <p:cNvPr id="36" name="Text 31"/>
          <p:cNvSpPr/>
          <p:nvPr/>
        </p:nvSpPr>
        <p:spPr>
          <a:xfrm>
            <a:off x="6537960" y="5715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cleaned → segmented into 10–15s clips → 16kHz mono, noise-reduced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" name="Text 1"/>
          <p:cNvSpPr/>
          <p:nvPr/>
        </p:nvSpPr>
        <p:spPr>
          <a:xfrm>
            <a:off x="5760720" y="29260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b="1" kern="0" spc="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0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Economic, social, political, and health impact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132588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project matters for Bangladesh — and beyond a single clinic.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548640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737360"/>
            <a:ext cx="54864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201168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2176272"/>
            <a:ext cx="310896" cy="3108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0200" y="20116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600200" y="22402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cost per consultation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77240" y="2788920"/>
            <a:ext cx="49377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doctor documentation time, raising patient throughput in already-overloaded clinics. Reduces dependency on expensive imported EHR software for small practices.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53912" y="1737360"/>
            <a:ext cx="548640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153912" y="1737360"/>
            <a:ext cx="54864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5" name="Shape 12"/>
          <p:cNvSpPr/>
          <p:nvPr/>
        </p:nvSpPr>
        <p:spPr>
          <a:xfrm>
            <a:off x="6428232" y="201168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4" y="2176272"/>
            <a:ext cx="310896" cy="31089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251192" y="20116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251192" y="22402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for the under-served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6428232" y="2788920"/>
            <a:ext cx="49377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Voice-first design reaches users who are not literate enough to type or use English-language health apps — the majority outside Dhaka. Bridges urban–rural digital health gap.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02920" y="4023360"/>
            <a:ext cx="548640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02920" y="4023360"/>
            <a:ext cx="54864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2" name="Shape 18"/>
          <p:cNvSpPr/>
          <p:nvPr/>
        </p:nvSpPr>
        <p:spPr>
          <a:xfrm>
            <a:off x="777240" y="429768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4462272"/>
            <a:ext cx="310896" cy="31089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600200" y="42976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POLITICAL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1600200" y="45262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Aligned with Smart Bangladesh</a:t>
            </a:r>
            <a:endParaRPr lang="en-US" sz="1600" dirty="0"/>
          </a:p>
        </p:txBody>
      </p:sp>
      <p:sp>
        <p:nvSpPr>
          <p:cNvPr id="26" name="Text 21"/>
          <p:cNvSpPr/>
          <p:nvPr/>
        </p:nvSpPr>
        <p:spPr>
          <a:xfrm>
            <a:off x="777240" y="5074920"/>
            <a:ext cx="49377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the national agenda for digital public services and universal digital health records. Keeps sensitive Bangladeshi health data on local infrastructure rather than foreign clouds.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6153912" y="4023360"/>
            <a:ext cx="548640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10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6153912" y="4023360"/>
            <a:ext cx="54864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9" name="Shape 24"/>
          <p:cNvSpPr/>
          <p:nvPr/>
        </p:nvSpPr>
        <p:spPr>
          <a:xfrm>
            <a:off x="6428232" y="429768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2824" y="4462272"/>
            <a:ext cx="310896" cy="310896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7251192" y="42976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7251192" y="45262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consultations, safer triage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6428232" y="5074920"/>
            <a:ext cx="49377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Frees doctor time for examination and reasoning. Differential-diagnosis hints flag conditions the doctor may want to investigate. Structured records enable longitudinal care and population-health insights.</a:t>
            </a:r>
            <a:endParaRPr lang="en-US" sz="1150" dirty="0"/>
          </a:p>
        </p:txBody>
      </p:sp>
      <p:sp>
        <p:nvSpPr>
          <p:cNvPr id="34" name="Shape 28"/>
          <p:cNvSpPr/>
          <p:nvPr/>
        </p:nvSpPr>
        <p:spPr>
          <a:xfrm>
            <a:off x="502920" y="6126480"/>
            <a:ext cx="111556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5" name="Text 29"/>
          <p:cNvSpPr/>
          <p:nvPr/>
        </p:nvSpPr>
        <p:spPr>
          <a:xfrm>
            <a:off x="502920" y="623620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ADDRESSES THREE REAL GAPS:  </a:t>
            </a: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digital records in most clinics  ·  shortage of consultation time per patient  ·  absence of usable Bangla medical AI tooling.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502920" y="65836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Pre-Consultation System  ·  CSE499A  ·  NSU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" name="Text 1"/>
          <p:cNvSpPr/>
          <p:nvPr/>
        </p:nvSpPr>
        <p:spPr>
          <a:xfrm>
            <a:off x="5760720" y="29260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b="1" kern="0" spc="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 /  PROFESSIONAL RESPONSIBILITY</a:t>
            </a: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0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Ethical &amp; professional responsibility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Pre-Consultation System  ·  CSE499A  ·  NSU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health data, vulnerable users, and a system that whispers in the doctor's ear — this needs explicit guardrails.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486400" cy="45720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3852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PATIENT-SIDE  ·  WHAT WE PROTECT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2468880"/>
            <a:ext cx="502920" cy="502920"/>
          </a:xfrm>
          <a:prstGeom prst="ellipse">
            <a:avLst/>
          </a:prstGeom>
          <a:solidFill>
            <a:srgbClr val="ECFDF5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587752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24414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Informed consent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280160" y="2715768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Explicit, recorded consent in the patient's own language before any audio is captured. Opt-out anytime, no penalty.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4360" y="3337560"/>
            <a:ext cx="502920" cy="502920"/>
          </a:xfrm>
          <a:prstGeom prst="ellipse">
            <a:avLst/>
          </a:prstGeom>
          <a:solidFill>
            <a:srgbClr val="ECFDF5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3456432"/>
            <a:ext cx="274320" cy="2743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280160" y="331012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 &amp; security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1280160" y="3584448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at rest and in transit. Role-based access. Bangladeshi data stays on local infrastructure where possible.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94360" y="4206240"/>
            <a:ext cx="502920" cy="502920"/>
          </a:xfrm>
          <a:prstGeom prst="ellipse">
            <a:avLst/>
          </a:prstGeom>
          <a:solidFill>
            <a:srgbClr val="ECFDF5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4325112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417880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Fairness across dialects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280160" y="4453128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Multi-dialect data collection so accuracy doesn't collapse for Sylheti, Chittagonian, or rural speakers.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94360" y="5074920"/>
            <a:ext cx="502920" cy="502920"/>
          </a:xfrm>
          <a:prstGeom prst="ellipse">
            <a:avLst/>
          </a:prstGeom>
          <a:solidFill>
            <a:srgbClr val="ECFDF5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5193792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280160" y="504748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Transparency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1280160" y="5321808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transcript is always shown alongside extracted entities so doctor and patient can verify and challenge it.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6263640" y="1828800"/>
            <a:ext cx="5486400" cy="4572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6" name="Text 20"/>
          <p:cNvSpPr/>
          <p:nvPr/>
        </p:nvSpPr>
        <p:spPr>
          <a:xfrm>
            <a:off x="6400800" y="193852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SYSTEM-SIDE  ·  HOW WE OPERATE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6355080" y="2487168"/>
            <a:ext cx="457200" cy="457200"/>
          </a:xfrm>
          <a:prstGeom prst="ellipse">
            <a:avLst/>
          </a:prstGeom>
          <a:solidFill>
            <a:srgbClr val="0F2747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9380" y="2601468"/>
            <a:ext cx="228600" cy="22860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6995160" y="24414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assists, doctor decides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6995160" y="27157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never issues a diagnosis. It surfaces conditions worth ruling out. Final clinical judgment remains with the licensed physician.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6355080" y="3355848"/>
            <a:ext cx="457200" cy="457200"/>
          </a:xfrm>
          <a:prstGeom prst="ellipse">
            <a:avLst/>
          </a:prstGeom>
          <a:solidFill>
            <a:srgbClr val="0F2747"/>
          </a:solidFill>
          <a:ln/>
        </p:spPr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9380" y="3470148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995160" y="33101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accuracy claims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6995160" y="35844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report WER, CER, and BLEU on real dialect speech — not on clean read-aloud benchmarks. Limitations are visible to the doctor.</a:t>
            </a:r>
            <a:endParaRPr lang="en-US" sz="1050" dirty="0"/>
          </a:p>
        </p:txBody>
      </p:sp>
      <p:sp>
        <p:nvSpPr>
          <p:cNvPr id="35" name="Shape 27"/>
          <p:cNvSpPr/>
          <p:nvPr/>
        </p:nvSpPr>
        <p:spPr>
          <a:xfrm>
            <a:off x="6355080" y="4224528"/>
            <a:ext cx="457200" cy="457200"/>
          </a:xfrm>
          <a:prstGeom prst="ellipse">
            <a:avLst/>
          </a:prstGeom>
          <a:solidFill>
            <a:srgbClr val="0F2747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9380" y="4338828"/>
            <a:ext cx="228600" cy="22860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6995160" y="41788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Auditable pipeline</a:t>
            </a:r>
            <a:endParaRPr lang="en-US" sz="1300" dirty="0"/>
          </a:p>
        </p:txBody>
      </p:sp>
      <p:sp>
        <p:nvSpPr>
          <p:cNvPr id="38" name="Text 29"/>
          <p:cNvSpPr/>
          <p:nvPr/>
        </p:nvSpPr>
        <p:spPr>
          <a:xfrm>
            <a:off x="6995160" y="445312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extracted entity is traceable back to the original audio segment. No silent edits, no untraceable model 'corrections'.</a:t>
            </a:r>
            <a:endParaRPr lang="en-US" sz="1050" dirty="0"/>
          </a:p>
        </p:txBody>
      </p:sp>
      <p:sp>
        <p:nvSpPr>
          <p:cNvPr id="39" name="Shape 30"/>
          <p:cNvSpPr/>
          <p:nvPr/>
        </p:nvSpPr>
        <p:spPr>
          <a:xfrm>
            <a:off x="6355080" y="5093208"/>
            <a:ext cx="457200" cy="457200"/>
          </a:xfrm>
          <a:prstGeom prst="ellipse">
            <a:avLst/>
          </a:prstGeom>
          <a:solidFill>
            <a:srgbClr val="0F2747"/>
          </a:solidFill>
          <a:ln/>
        </p:spPr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9380" y="5207508"/>
            <a:ext cx="228600" cy="228600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6995160" y="504748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Aligned with professional codes</a:t>
            </a:r>
            <a:endParaRPr lang="en-US" sz="1300" dirty="0"/>
          </a:p>
        </p:txBody>
      </p:sp>
      <p:sp>
        <p:nvSpPr>
          <p:cNvPr id="42" name="Text 32"/>
          <p:cNvSpPr/>
          <p:nvPr/>
        </p:nvSpPr>
        <p:spPr>
          <a:xfrm>
            <a:off x="6995160" y="532180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IEEE Code of Ethics — public health prioritized; competence honestly represented; user welfare above convenience.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" name="Text 1"/>
          <p:cNvSpPr/>
          <p:nvPr/>
        </p:nvSpPr>
        <p:spPr>
          <a:xfrm>
            <a:off x="5760720" y="29260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b="1" kern="0" spc="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 &amp;  TECHNOLOGIES</a:t>
            </a: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0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technologies used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Pre-Consultation System  ·  CSE499A  ·  NSU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Open-source, reproducible stack — chosen so the system can run on a clinic budget.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2788920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828800"/>
            <a:ext cx="278892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2103120"/>
            <a:ext cx="640080" cy="640080"/>
          </a:xfrm>
          <a:prstGeom prst="ellipse">
            <a:avLst/>
          </a:prstGeom>
          <a:solidFill>
            <a:srgbClr val="ECFDF5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258568"/>
            <a:ext cx="329184" cy="32918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31520" y="283464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ASR MODELS EVALUATED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31520" y="3127248"/>
            <a:ext cx="548640" cy="2286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3246120"/>
            <a:ext cx="2423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(S/M/L/Turbo)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Wav2Vec2 (XLSR-53, 300M, CV)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MMS · SeamlessM4T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Vakyansh-Bn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BengaliAI Regional + Whisper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Qwen2/3-Audio · Phi-4 MM · Voxtral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383280" y="1828800"/>
            <a:ext cx="2788920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83280" y="1828800"/>
            <a:ext cx="278892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Shape 13"/>
          <p:cNvSpPr/>
          <p:nvPr/>
        </p:nvSpPr>
        <p:spPr>
          <a:xfrm>
            <a:off x="3611880" y="2103120"/>
            <a:ext cx="640080" cy="640080"/>
          </a:xfrm>
          <a:prstGeom prst="ellipse">
            <a:avLst/>
          </a:prstGeom>
          <a:solidFill>
            <a:srgbClr val="ECFDF5"/>
          </a:solidFill>
          <a:ln/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7328" y="2258568"/>
            <a:ext cx="329184" cy="32918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611880" y="283464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DL FRAMEWORKS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611880" y="3127248"/>
            <a:ext cx="548640" cy="2286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20" name="Text 16"/>
          <p:cNvSpPr/>
          <p:nvPr/>
        </p:nvSpPr>
        <p:spPr>
          <a:xfrm>
            <a:off x="3611880" y="3246120"/>
            <a:ext cx="2423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Transformers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Datasets · Accelerate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PEFT (LoRA fine-tuning)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Librosa · SoundFile · FFmpeg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Whisper-X · CTranslate2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263640" y="1828800"/>
            <a:ext cx="2788920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63640" y="1828800"/>
            <a:ext cx="278892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3" name="Shape 19"/>
          <p:cNvSpPr/>
          <p:nvPr/>
        </p:nvSpPr>
        <p:spPr>
          <a:xfrm>
            <a:off x="6492240" y="2103120"/>
            <a:ext cx="640080" cy="640080"/>
          </a:xfrm>
          <a:prstGeom prst="ellipse">
            <a:avLst/>
          </a:prstGeom>
          <a:solidFill>
            <a:srgbClr val="ECFDF5"/>
          </a:solidFill>
          <a:ln/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7688" y="2258568"/>
            <a:ext cx="329184" cy="32918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492240" y="283464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&amp; BACKEND (PLANNED)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6492240" y="3127248"/>
            <a:ext cx="548640" cy="2286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27" name="Text 22"/>
          <p:cNvSpPr/>
          <p:nvPr/>
        </p:nvSpPr>
        <p:spPr>
          <a:xfrm>
            <a:off x="6492240" y="3246120"/>
            <a:ext cx="2423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(Python)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(encrypted)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/ Next.js dashboard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/ PWA patient app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+ RBAC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S3-compatible audio store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9144000" y="1828800"/>
            <a:ext cx="2788920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9144000" y="1828800"/>
            <a:ext cx="278892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0" name="Shape 25"/>
          <p:cNvSpPr/>
          <p:nvPr/>
        </p:nvSpPr>
        <p:spPr>
          <a:xfrm>
            <a:off x="9372600" y="2103120"/>
            <a:ext cx="640080" cy="640080"/>
          </a:xfrm>
          <a:prstGeom prst="ellipse">
            <a:avLst/>
          </a:prstGeom>
          <a:solidFill>
            <a:srgbClr val="ECFDF5"/>
          </a:solidFill>
          <a:ln/>
        </p:spPr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8048" y="2258568"/>
            <a:ext cx="329184" cy="32918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9372600" y="283464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&amp; TOOLING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9372600" y="3127248"/>
            <a:ext cx="548640" cy="2286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4" name="Text 28"/>
          <p:cNvSpPr/>
          <p:nvPr/>
        </p:nvSpPr>
        <p:spPr>
          <a:xfrm>
            <a:off x="9372600" y="3246120"/>
            <a:ext cx="2423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 (T4 / A100)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Drive (dataset)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Hub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/ GitHub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&amp; Biases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■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(deployment)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502920" y="5532120"/>
            <a:ext cx="11155680" cy="59436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6" name="Shape 30"/>
          <p:cNvSpPr/>
          <p:nvPr/>
        </p:nvSpPr>
        <p:spPr>
          <a:xfrm>
            <a:off x="502920" y="5532120"/>
            <a:ext cx="54864" cy="594360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37" name="Text 31"/>
          <p:cNvSpPr/>
          <p:nvPr/>
        </p:nvSpPr>
        <p:spPr>
          <a:xfrm>
            <a:off x="777240" y="56967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IN PROGRESS — RESEARCHING:   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fine-tune Qwen3-ASR-1.7B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for multi-dialect Bangla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" name="Text 1"/>
          <p:cNvSpPr/>
          <p:nvPr/>
        </p:nvSpPr>
        <p:spPr>
          <a:xfrm>
            <a:off x="5760720" y="29260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b="1" kern="0" spc="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/  PHASE 2 — BASELINE</a:t>
            </a: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0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Existing Bangla ASR models on dialect speech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Pre-Consultation System  ·  CSE499A  ·  NSU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open Bangla / multilingual ASR models tested on our 4.7-hour multi-dialect corpus.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ERROR RATE  ·  LOWER IS BETTER</a:t>
            </a:r>
            <a:endParaRPr lang="en-US" sz="9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502920" y="2057400"/>
          <a:ext cx="7040880" cy="4251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/>
          <p:cNvSpPr/>
          <p:nvPr/>
        </p:nvSpPr>
        <p:spPr>
          <a:xfrm>
            <a:off x="7818120" y="1783080"/>
            <a:ext cx="3840480" cy="251460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10" name="Shape 7"/>
          <p:cNvSpPr/>
          <p:nvPr/>
        </p:nvSpPr>
        <p:spPr>
          <a:xfrm>
            <a:off x="7818120" y="1783080"/>
            <a:ext cx="3840480" cy="54864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11" name="Text 8"/>
          <p:cNvSpPr/>
          <p:nvPr/>
        </p:nvSpPr>
        <p:spPr>
          <a:xfrm>
            <a:off x="8046720" y="192024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BASELINE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046720" y="21945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BengaliAI Regional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046720" y="269748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046720" y="2907792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46.9%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8046720" y="345643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better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9253728" y="269748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9253728" y="2907792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24.3%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9253728" y="345643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better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460736" y="269748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0460736" y="2907792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0.273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0460736" y="345643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better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046720" y="3794760"/>
            <a:ext cx="3383280" cy="13716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3" name="Text 20"/>
          <p:cNvSpPr/>
          <p:nvPr/>
        </p:nvSpPr>
        <p:spPr>
          <a:xfrm>
            <a:off x="8046720" y="388620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of the smaller, Bangla-specialized models — our reference point for everything that follows.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818120" y="4389120"/>
            <a:ext cx="3840480" cy="19202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25" name="Shape 22"/>
          <p:cNvSpPr/>
          <p:nvPr/>
        </p:nvSpPr>
        <p:spPr>
          <a:xfrm>
            <a:off x="7818120" y="4389120"/>
            <a:ext cx="54864" cy="192024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4544568"/>
            <a:ext cx="292608" cy="292608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8412480" y="456285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OBSERVATION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8046720" y="4892040"/>
            <a:ext cx="3520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F27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best baseline gets nearly half the words wrong.</a:t>
            </a:r>
            <a:endParaRPr lang="en-US" sz="1050" dirty="0"/>
          </a:p>
          <a:p>
            <a:pPr marL="0" indent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 dialect ASR is essentially unsolved. Models trained on news and audiobooks collapse on real, code-mixed clinical speech — Whisper Small reaches </a:t>
            </a: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195% WER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(more substitutions and insertions than original words).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" name="Text 1"/>
          <p:cNvSpPr/>
          <p:nvPr/>
        </p:nvSpPr>
        <p:spPr>
          <a:xfrm>
            <a:off x="5760720" y="29260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b="1" kern="0" spc="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/  PHASE 3 — BIGGER MODELS</a:t>
            </a: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0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bigger 2B–7B audio LLMs do better?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0292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Pre-Consultation System  ·  CSE499A  ·  NSU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corpus, six large multimodal audio LLMs (1.7B–7B params). The result was a surprise.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%  ·  BEST SMALL MODEL  vs  BIGGER MULTIMODAL LLMS</a:t>
            </a:r>
            <a:endParaRPr lang="en-US" sz="9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502920" y="2057400"/>
          <a:ext cx="70408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541324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TESTED  ·  failed to produce usable output:  </a:t>
            </a: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Phi-4 Multimodal, Qwen2.5-Omni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818120" y="1783080"/>
            <a:ext cx="3840480" cy="452628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11" name="Shape 8"/>
          <p:cNvSpPr/>
          <p:nvPr/>
        </p:nvSpPr>
        <p:spPr>
          <a:xfrm>
            <a:off x="7818120" y="1783080"/>
            <a:ext cx="3840480" cy="54864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993392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531352" y="20299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046720" y="242316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Bigger isn't better</a:t>
            </a:r>
            <a:endParaRPr lang="en-US" sz="2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Bangla dialect speech.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8046720" y="3520440"/>
            <a:ext cx="914400" cy="22860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16" name="Text 12"/>
          <p:cNvSpPr/>
          <p:nvPr/>
        </p:nvSpPr>
        <p:spPr>
          <a:xfrm>
            <a:off x="8046720" y="365760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 smaller models outperform 7B multimodal LLMs by </a:t>
            </a: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50%+ WER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big general-purpose audio LLMs don't transfer to dialect Bangla — they over-translate, hallucinate, and mis-segment.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046720" y="5074920"/>
            <a:ext cx="3520440" cy="1097280"/>
          </a:xfrm>
          <a:prstGeom prst="rect">
            <a:avLst/>
          </a:prstGeom>
          <a:solidFill>
            <a:srgbClr val="081627"/>
          </a:solidFill>
          <a:ln/>
        </p:spPr>
      </p:sp>
      <p:sp>
        <p:nvSpPr>
          <p:cNvPr id="18" name="Shape 14"/>
          <p:cNvSpPr/>
          <p:nvPr/>
        </p:nvSpPr>
        <p:spPr>
          <a:xfrm>
            <a:off x="8046720" y="5074920"/>
            <a:ext cx="45720" cy="1097280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19" name="Text 15"/>
          <p:cNvSpPr/>
          <p:nvPr/>
        </p:nvSpPr>
        <p:spPr>
          <a:xfrm>
            <a:off x="8202168" y="51663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NEXT (PHASE 5)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8202168" y="5413248"/>
            <a:ext cx="3337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AI chatbot outputs as the patient interface</a:t>
            </a: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prompt ChatGPT, DeepSeek, Qwen, Perplexity with patient scenarios and benchmark how each renders an EHR-style output to inform our pipeline's schema.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02920" y="632764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 </a:t>
            </a:r>
            <a:r>
              <a:rPr lang="en-US" sz="8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github.com/RRM006/cse499-project-temp-azk-2026</a:t>
            </a: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full notebooks, dataset log, and evaluation scripts available on the project repository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1399</Words>
  <Application>Microsoft Office PowerPoint</Application>
  <PresentationFormat>Widescreen</PresentationFormat>
  <Paragraphs>187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North South University - CSE499A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EHR-Based Pre-Consultation Medical Documentation System</dc:title>
  <dc:subject>PptxGenJS Presentation</dc:subject>
  <dc:creator>Rafiur Rahman Mashrafi, M.G. Rabbi Hossen, Israt Zaman Srity</dc:creator>
  <cp:lastModifiedBy>User</cp:lastModifiedBy>
  <cp:revision>3</cp:revision>
  <dcterms:created xsi:type="dcterms:W3CDTF">2026-04-26T08:03:19Z</dcterms:created>
  <dcterms:modified xsi:type="dcterms:W3CDTF">2026-04-29T14:36:47Z</dcterms:modified>
</cp:coreProperties>
</file>