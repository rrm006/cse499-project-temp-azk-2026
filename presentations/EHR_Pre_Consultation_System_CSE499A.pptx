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-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</c:v>
                </c:pt>
              </c:strCache>
            </c:strRef>
          </c:tx>
          <c:spPr>
            <a:solidFill>
              <a:srgbClr val="475569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0A2-4035-9685-6F3D43DE4A07}"/>
              </c:ext>
            </c:extLst>
          </c:dPt>
          <c:dPt>
            <c:idx val="1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A2-4035-9685-6F3D43DE4A07}"/>
              </c:ext>
            </c:extLst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0A2-4035-9685-6F3D43DE4A07}"/>
              </c:ext>
            </c:extLst>
          </c:dPt>
          <c:dPt>
            <c:idx val="3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0A2-4035-9685-6F3D43DE4A07}"/>
              </c:ext>
            </c:extLst>
          </c:dPt>
          <c:dPt>
            <c:idx val="4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0A2-4035-9685-6F3D43DE4A07}"/>
              </c:ext>
            </c:extLst>
          </c:dPt>
          <c:dPt>
            <c:idx val="5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0A2-4035-9685-6F3D43DE4A07}"/>
              </c:ext>
            </c:extLst>
          </c:dPt>
          <c:dPt>
            <c:idx val="6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0A2-4035-9685-6F3D43DE4A07}"/>
              </c:ext>
            </c:extLst>
          </c:dPt>
          <c:dPt>
            <c:idx val="7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0A2-4035-9685-6F3D43DE4A07}"/>
              </c:ext>
            </c:extLst>
          </c:dPt>
          <c:dPt>
            <c:idx val="8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0A2-4035-9685-6F3D43DE4A07}"/>
              </c:ext>
            </c:extLst>
          </c:dPt>
          <c:dPt>
            <c:idx val="9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0A2-4035-9685-6F3D43DE4A07}"/>
              </c:ext>
            </c:extLst>
          </c:dPt>
          <c:dPt>
            <c:idx val="10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E0A2-4035-9685-6F3D43DE4A07}"/>
              </c:ext>
            </c:extLst>
          </c:dPt>
          <c:dPt>
            <c:idx val="1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E0A2-4035-9685-6F3D43DE4A0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Whisper Small</c:v>
                </c:pt>
                <c:pt idx="1">
                  <c:v>Whisper Medium</c:v>
                </c:pt>
                <c:pt idx="2">
                  <c:v>Whisper-v3 Turbo</c:v>
                </c:pt>
                <c:pt idx="3">
                  <c:v>Wav2Vec2-XLSR-53-Bn</c:v>
                </c:pt>
                <c:pt idx="4">
                  <c:v>Whisper Large-v3</c:v>
                </c:pt>
                <c:pt idx="5">
                  <c:v>SeamlessM4T</c:v>
                </c:pt>
                <c:pt idx="6">
                  <c:v>Wav2Vec2-XLSR-300M-Bn</c:v>
                </c:pt>
                <c:pt idx="7">
                  <c:v>Wav2Vec2-XLSR-CV-Bn</c:v>
                </c:pt>
                <c:pt idx="8">
                  <c:v>Vakyansh-Bn</c:v>
                </c:pt>
                <c:pt idx="9">
                  <c:v>MMS</c:v>
                </c:pt>
                <c:pt idx="10">
                  <c:v>BengaliAI Whisper</c:v>
                </c:pt>
                <c:pt idx="11">
                  <c:v>BengaliAI Regional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195.8</c:v>
                </c:pt>
                <c:pt idx="1">
                  <c:v>116.8</c:v>
                </c:pt>
                <c:pt idx="2">
                  <c:v>102.6</c:v>
                </c:pt>
                <c:pt idx="3">
                  <c:v>100.2</c:v>
                </c:pt>
                <c:pt idx="4">
                  <c:v>91</c:v>
                </c:pt>
                <c:pt idx="5">
                  <c:v>76.8</c:v>
                </c:pt>
                <c:pt idx="6">
                  <c:v>70.2</c:v>
                </c:pt>
                <c:pt idx="7">
                  <c:v>68.099999999999994</c:v>
                </c:pt>
                <c:pt idx="8">
                  <c:v>61.4</c:v>
                </c:pt>
                <c:pt idx="9">
                  <c:v>55.7</c:v>
                </c:pt>
                <c:pt idx="10">
                  <c:v>50.5</c:v>
                </c:pt>
                <c:pt idx="11">
                  <c:v>46.9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0A2-4035-9685-6F3D43DE4A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Calibri"/>
                  </a:defRPr>
                </a:pPr>
                <a:r>
                  <a:rPr lang="en-US" sz="900" b="0" i="0" u="none" strike="noStrike">
                    <a:solidFill>
                      <a:srgbClr val="64748B"/>
                    </a:solidFill>
                    <a:latin typeface="Calibri"/>
                  </a:rPr>
                  <a:t>WER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</c:v>
                </c:pt>
              </c:strCache>
            </c:strRef>
          </c:tx>
          <c:spPr>
            <a:solidFill>
              <a:srgbClr val="0D9488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6B-445D-BF71-BB56FE5B6F49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6B-445D-BF71-BB56FE5B6F49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6B-445D-BF71-BB56FE5B6F49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6B-445D-BF71-BB56FE5B6F49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6B-445D-BF71-BB56FE5B6F4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BengaliAI Regional
(small, specialized)</c:v>
                </c:pt>
                <c:pt idx="1">
                  <c:v>Qwen2-Audio
(via English)</c:v>
                </c:pt>
                <c:pt idx="2">
                  <c:v>Qwen2-Audio
(direct)</c:v>
                </c:pt>
                <c:pt idx="3">
                  <c:v>Qwen3-ASR-1.7B</c:v>
                </c:pt>
                <c:pt idx="4">
                  <c:v>Voxtral Mini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46.9</c:v>
                </c:pt>
                <c:pt idx="1">
                  <c:v>100.4</c:v>
                </c:pt>
                <c:pt idx="2">
                  <c:v>108.4</c:v>
                </c:pt>
                <c:pt idx="3">
                  <c:v>113.4</c:v>
                </c:pt>
                <c:pt idx="4">
                  <c:v>136.30000000000001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B6B-445D-BF71-BB56FE5B6F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71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drive/folders/1CSJt9yyZXtLzz10rWEdk3cCL4fFeujH0" TargetMode="External"/><Relationship Id="rId5" Type="http://schemas.openxmlformats.org/officeDocument/2006/relationships/image" Target="../media/image29.png"/><Relationship Id="rId4" Type="http://schemas.openxmlformats.org/officeDocument/2006/relationships/hyperlink" Target="https://github.com/RRM006/cse499-project-temp-azk-2026" TargetMode="External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81627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CSE499A  ·  SENIOR DESIGN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EHR-Based Pre-Consultation</a:t>
            </a:r>
            <a:endParaRPr lang="en-US" sz="3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Documentation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speech, dialect-aware, turned into a structured EHR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doctor walks 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040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3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just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describes symptoms in natural Bangla — including dialects and code-mixed English — to a voice-enabled device while waiting. The system transcribes the speech, extracts clinically relevant entities (symptoms, medications, duration, allergies), and delivers a structured Electronic Health Record with differential-diagnosis hints to the doctor's screen, so the consultation can focus on examination and decision-making instead of paperwork.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" y="5292012"/>
            <a:ext cx="694944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45572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4216" y="5760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Rafiur Rahman Mashrafi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2221971042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G. Rabbi Hossen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2222516042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Israt Zaman Srity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2211084042</a:t>
            </a:r>
            <a:endParaRPr lang="en-US" sz="1100" dirty="0"/>
          </a:p>
        </p:txBody>
      </p:sp>
      <p:sp>
        <p:nvSpPr>
          <p:cNvPr id="12" name="Text 10">
            <a:hlinkClick r:id=""/>
          </p:cNvPr>
          <p:cNvSpPr/>
          <p:nvPr/>
        </p:nvSpPr>
        <p:spPr>
          <a:xfrm>
            <a:off x="512064" y="6405489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u="sng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900" u="sng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 </a:t>
            </a:r>
            <a:r>
              <a:rPr lang="en-US" sz="900" u="sng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github.com/RRM006/cse499-project-temp-azk-2026</a:t>
            </a:r>
            <a:endParaRPr lang="en-US" sz="900" dirty="0"/>
          </a:p>
        </p:txBody>
      </p:sp>
      <p:sp>
        <p:nvSpPr>
          <p:cNvPr id="13" name="Text 11">
            <a:hlinkClick r:id=""/>
          </p:cNvPr>
          <p:cNvSpPr/>
          <p:nvPr/>
        </p:nvSpPr>
        <p:spPr>
          <a:xfrm>
            <a:off x="4617720" y="64236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u="sng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DRIVE </a:t>
            </a:r>
            <a:r>
              <a:rPr lang="en-US" sz="900" u="sng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 </a:t>
            </a:r>
            <a:r>
              <a:rPr lang="en-US" sz="900" u="sng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drive.google.com/.../1CSJt9yyZX...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509760" y="109728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132588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8388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9244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Mohammad Ashrafuzzaman Khan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924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AzK ]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9244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92440" y="37033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Ph.D., Computer Science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 Institute of Technology</a:t>
            </a:r>
            <a:endParaRPr lang="en-US" sz="11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B.Sc., CSE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BUET, Dhaka, Bangladesh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412480" y="5897880"/>
            <a:ext cx="320040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8092440" y="6035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Electrical &amp; Computer Engineering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92440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South University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FBB1E9-13FC-46D2-A995-7614C6A2C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566" y="6236071"/>
            <a:ext cx="522165" cy="5221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EE5E5CE-DEF6-4A2B-BB48-AAD1F4050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689" y="6242322"/>
            <a:ext cx="509661" cy="5096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/  PIPELINE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works, end-to-end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spoken Bangla to a doctor-ready record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2103120" cy="2286000"/>
          </a:xfrm>
          <a:prstGeom prst="rect">
            <a:avLst/>
          </a:prstGeom>
          <a:solidFill>
            <a:srgbClr val="0F2747"/>
          </a:solidFill>
          <a:ln/>
          <a:effectLst>
            <a:outerShdw blurRad="101600" dist="25400" dir="5400000" algn="bl" rotWithShape="0">
              <a:srgbClr val="0F2747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28800"/>
            <a:ext cx="2103120" cy="54864"/>
          </a:xfrm>
          <a:prstGeom prst="rect">
            <a:avLst/>
          </a:prstGeom>
          <a:solidFill>
            <a:srgbClr val="5EEAD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945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Speech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Bangla, dialects,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English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624" y="288036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98648" y="1828800"/>
            <a:ext cx="2103120" cy="2286000"/>
          </a:xfrm>
          <a:prstGeom prst="rect">
            <a:avLst/>
          </a:prstGeom>
          <a:solidFill>
            <a:srgbClr val="0F2747"/>
          </a:solidFill>
          <a:ln/>
          <a:effectLst>
            <a:outerShdw blurRad="101600" dist="25400" dir="5400000" algn="bl" rotWithShape="0">
              <a:srgbClr val="0F274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898648" y="1828800"/>
            <a:ext cx="2103120" cy="54864"/>
          </a:xfrm>
          <a:prstGeom prst="rect">
            <a:avLst/>
          </a:prstGeom>
          <a:solidFill>
            <a:srgbClr val="5EEAD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194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98648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990088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990088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Bangla-tuned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88036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202936" y="1828800"/>
            <a:ext cx="2103120" cy="2286000"/>
          </a:xfrm>
          <a:prstGeom prst="rect">
            <a:avLst/>
          </a:prstGeom>
          <a:solidFill>
            <a:srgbClr val="0F2747"/>
          </a:solidFill>
          <a:ln/>
          <a:effectLst>
            <a:outerShdw blurRad="101600" dist="25400" dir="5400000" algn="bl" rotWithShape="0">
              <a:srgbClr val="0F2747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202936" y="1828800"/>
            <a:ext cx="2103120" cy="54864"/>
          </a:xfrm>
          <a:prstGeom prst="rect">
            <a:avLst/>
          </a:prstGeom>
          <a:solidFill>
            <a:srgbClr val="5EEAD4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2194560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02936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294376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NER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294376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· Meds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· Allergies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88036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507224" y="1828800"/>
            <a:ext cx="2103120" cy="2286000"/>
          </a:xfrm>
          <a:prstGeom prst="rect">
            <a:avLst/>
          </a:prstGeom>
          <a:solidFill>
            <a:srgbClr val="0F2747"/>
          </a:solidFill>
          <a:ln/>
          <a:effectLst>
            <a:outerShdw blurRad="101600" dist="25400" dir="5400000" algn="bl" rotWithShape="0">
              <a:srgbClr val="0F2747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507224" y="1828800"/>
            <a:ext cx="2103120" cy="54864"/>
          </a:xfrm>
          <a:prstGeom prst="rect">
            <a:avLst/>
          </a:prstGeom>
          <a:solidFill>
            <a:srgbClr val="5EEAD4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2194560"/>
            <a:ext cx="640080" cy="6400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507224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7598664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EHR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7598664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2880360"/>
            <a:ext cx="182880" cy="18288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9811512" y="1828800"/>
            <a:ext cx="2103120" cy="2286000"/>
          </a:xfrm>
          <a:prstGeom prst="rect">
            <a:avLst/>
          </a:prstGeom>
          <a:solidFill>
            <a:srgbClr val="0F2747"/>
          </a:solidFill>
          <a:ln/>
          <a:effectLst>
            <a:outerShdw blurRad="101600" dist="25400" dir="5400000" algn="bl" rotWithShape="0">
              <a:srgbClr val="0F2747">
                <a:alpha val="18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9811512" y="1828800"/>
            <a:ext cx="2103120" cy="54864"/>
          </a:xfrm>
          <a:prstGeom prst="rect">
            <a:avLst/>
          </a:prstGeom>
          <a:solidFill>
            <a:srgbClr val="5EEAD4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3032" y="2194560"/>
            <a:ext cx="640080" cy="6400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811512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9902952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Dashboard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9902952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hints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original transcript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502920" y="4617720"/>
            <a:ext cx="11155680" cy="1417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2" name="Shape 31"/>
          <p:cNvSpPr/>
          <p:nvPr/>
        </p:nvSpPr>
        <p:spPr>
          <a:xfrm>
            <a:off x="502920" y="4617720"/>
            <a:ext cx="73152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32"/>
          <p:cNvSpPr/>
          <p:nvPr/>
        </p:nvSpPr>
        <p:spPr>
          <a:xfrm>
            <a:off x="7772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000" dirty="0"/>
          </a:p>
        </p:txBody>
      </p:sp>
      <p:sp>
        <p:nvSpPr>
          <p:cNvPr id="44" name="Text 33"/>
          <p:cNvSpPr/>
          <p:nvPr/>
        </p:nvSpPr>
        <p:spPr>
          <a:xfrm>
            <a:off x="777240" y="50292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walks in already knowing the patient's story.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normally lost to history-taking and typing notes is reclaimed for examination and decision-making. The AI assists; the doctor decides. The original transcript stays attached to the EHR so the doctor can verify any extraction at a glance.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/  CORE CHALLENGE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part: real Bangladeshi clinical speech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Bangladesh do not speak in textbook Bangla. The ASR has to handle how people actually talk in a clinic.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864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640080" cy="6400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585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dialects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08760" y="2377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Sylheti, Chittagonian, Barishali, Dhakaiya (Puran Dhaka), Indian Bangla — significantly different in pronunciation, vocabulary, and grammar.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319272"/>
            <a:ext cx="54864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319272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3547872"/>
            <a:ext cx="640080" cy="6400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70332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3483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Bangla–English code-mixing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508760" y="38221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freely mix English medical and everyday terms into Bangla sentences — e.g., "gas-er problem, sathe pressure low hoye jay".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" y="4764024"/>
            <a:ext cx="54864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2920" y="4764024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4992624"/>
            <a:ext cx="640080" cy="6400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14807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9286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Informal, unscripted speech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508760" y="526694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Hesitations, repetitions, colloquial expressions, and incomplete sentences. Existing models trained on news and audiobooks break down on this.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263640" y="1874520"/>
            <a:ext cx="5440680" cy="41605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26" name="Shape 21"/>
          <p:cNvSpPr/>
          <p:nvPr/>
        </p:nvSpPr>
        <p:spPr>
          <a:xfrm>
            <a:off x="6263640" y="1874520"/>
            <a:ext cx="54406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7" name="Text 22"/>
          <p:cNvSpPr/>
          <p:nvPr/>
        </p:nvSpPr>
        <p:spPr>
          <a:xfrm>
            <a:off x="6537960" y="20574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COLLECTED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537960" y="2331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Multi-dialect Bangla audio corpus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653796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6000" dirty="0"/>
          </a:p>
        </p:txBody>
      </p:sp>
      <p:sp>
        <p:nvSpPr>
          <p:cNvPr id="30" name="Text 25"/>
          <p:cNvSpPr/>
          <p:nvPr/>
        </p:nvSpPr>
        <p:spPr>
          <a:xfrm>
            <a:off x="653796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raw audio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006840" y="2834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32" name="Text 27"/>
          <p:cNvSpPr/>
          <p:nvPr/>
        </p:nvSpPr>
        <p:spPr>
          <a:xfrm>
            <a:off x="900684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dialects covered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537960" y="4023360"/>
            <a:ext cx="4892040" cy="1371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4" name="Text 29"/>
          <p:cNvSpPr/>
          <p:nvPr/>
        </p:nvSpPr>
        <p:spPr>
          <a:xfrm>
            <a:off x="6537960" y="416052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DIALECTS IN THE CORPUS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537960" y="441655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Puran Dhaka (Dhakaiya)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Barishali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Sylheti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Bangla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Bangla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537960" y="5715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cleaned → segmented into 10–15s clips → 16kHz mono, noise-reduced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Economic, social, political, and health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 for Bangladesh — and beyond a single clinic.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54864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762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0020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cost per consultation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2788920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doctor documentation time, raising patient throughput in already-overloaded clinics. Reduces dependency on expensive imported EHR software for small practices.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53912" y="173736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53912" y="1737360"/>
            <a:ext cx="54864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6428232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17627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1192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51192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for the under-served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28232" y="2788920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design reaches users who are not literate enough to type or use English-language health apps — the majority outside Dhaka. Bridges urban–rural digital health gap.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402336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2920" y="4023360"/>
            <a:ext cx="54864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4297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46227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600200" y="4526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Smart Bangladesh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77240" y="5074920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national agenda for digital public services and universal digital health records. Keeps sensitive Bangladeshi health data on local infrastructure rather than foreign clouds.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153912" y="402336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153912" y="4023360"/>
            <a:ext cx="54864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4"/>
          <p:cNvSpPr/>
          <p:nvPr/>
        </p:nvSpPr>
        <p:spPr>
          <a:xfrm>
            <a:off x="6428232" y="4297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462272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51192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251192" y="4526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consultations, safer triage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428232" y="5074920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doctor time for examination and reasoning. Differential-diagnosis hints flag conditions the doctor may want to investigate. Structured records enable longitudinal care and population-health insights.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02920" y="6126480"/>
            <a:ext cx="111556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9"/>
          <p:cNvSpPr/>
          <p:nvPr/>
        </p:nvSpPr>
        <p:spPr>
          <a:xfrm>
            <a:off x="502920" y="62362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THREE REAL GAPS: 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digital records in most clinics  ·  shortage of consultation time per patient  ·  absence of usable Bangla medical AI tooling.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02920" y="6583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 /  PROFESSIONAL RESPONSIBILITY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&amp; professional responsibility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health data, vulnerable users, and a system that whispers in the doctor's ear — this needs explicit guardrails.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486400" cy="4572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38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PATIENT-SIDE  ·  WHAT WE PROTECT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502920" cy="50292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8775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4414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80160" y="271576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recorded consent in the patient's own language before any audio is captured. Opt-out anytime, no penalty.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3337560"/>
            <a:ext cx="502920" cy="50292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45643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3101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security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35844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and in transit. Role-based access. Bangladeshi data stays on local infrastructure where possible.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4360" y="4206240"/>
            <a:ext cx="502920" cy="50292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325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1788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across dialects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80160" y="445312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Multi-dialect data collection so accuracy doesn't collapse for Sylheti, Chittagonian, or rural speakers.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4360" y="5074920"/>
            <a:ext cx="502920" cy="50292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1937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50474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280160" y="532180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transcript is always shown alongside extracted entities so doctor and patient can verify and challenge it.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263640" y="1828800"/>
            <a:ext cx="54864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0" y="1938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SYSTEM-SIDE  ·  HOW WE OPERATE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55080" y="2487168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380" y="260146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95160" y="2441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assists, doctor decides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995160" y="27157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issues a diagnosis. It surfaces conditions worth ruling out. Final clinical judgment remains with the licensed physician.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355080" y="3355848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380" y="347014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95160" y="3310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accuracy claims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995160" y="35844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WER, CER, and BLEU on real dialect speech — not on clean read-aloud benchmarks. Limitations are visible to the doctor.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355080" y="4224528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380" y="4338828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9516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pipeline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995160" y="445312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entity is traceable back to the original audio segment. No silent edits, no untraceable model 'corrections'.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355080" y="5093208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380" y="5207508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995160" y="5047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professional codes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6995160" y="532180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IEEE Code of Ethics — public health prioritized; competence honestly represented; user welfare above convenience.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&amp;  TECHNOLOGIES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used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reproducible stack — chosen so the system can run on a clinic budget.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788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2788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640080" cy="6400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585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834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MODELS EVALUATED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" y="3127248"/>
            <a:ext cx="548640" cy="2286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4612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(S/M/L/Turbo)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(XLSR-53, 300M, CV)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 · SeamlessM4T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Vakyansh-Bn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BengaliAI Regional + Whisper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Qwen2/3-Audio · Phi-4 MM · Voxtral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1828800"/>
            <a:ext cx="2788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828800"/>
            <a:ext cx="2788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3611880" y="2103120"/>
            <a:ext cx="640080" cy="6400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25856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11880" y="2834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DL FRAMEWORKS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611880" y="3127248"/>
            <a:ext cx="548640" cy="2286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20" name="Text 16"/>
          <p:cNvSpPr/>
          <p:nvPr/>
        </p:nvSpPr>
        <p:spPr>
          <a:xfrm>
            <a:off x="3611880" y="324612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Datasets · Accelerate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(LoRA fine-tuning)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· SoundFile · FFmpeg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Whisper-X · CTranslate2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263640" y="1828800"/>
            <a:ext cx="2788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63640" y="1828800"/>
            <a:ext cx="2788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19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25856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92240" y="2834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BACKEND (PLANNED)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492240" y="3127248"/>
            <a:ext cx="548640" cy="2286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27" name="Text 22"/>
          <p:cNvSpPr/>
          <p:nvPr/>
        </p:nvSpPr>
        <p:spPr>
          <a:xfrm>
            <a:off x="6492240" y="324612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(encrypted)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dashboard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PWA patient app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RBAC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audio store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144000" y="1828800"/>
            <a:ext cx="2788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144000" y="1828800"/>
            <a:ext cx="2788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5"/>
          <p:cNvSpPr/>
          <p:nvPr/>
        </p:nvSpPr>
        <p:spPr>
          <a:xfrm>
            <a:off x="9372600" y="2103120"/>
            <a:ext cx="640080" cy="6400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48" y="2258568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72600" y="2834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TOOLING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9372600" y="3127248"/>
            <a:ext cx="548640" cy="2286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4" name="Text 28"/>
          <p:cNvSpPr/>
          <p:nvPr/>
        </p:nvSpPr>
        <p:spPr>
          <a:xfrm>
            <a:off x="9372600" y="324612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(T4 / A100)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(dataset)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(deployment)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6" name="Shape 30"/>
          <p:cNvSpPr/>
          <p:nvPr/>
        </p:nvSpPr>
        <p:spPr>
          <a:xfrm>
            <a:off x="502920" y="5532120"/>
            <a:ext cx="54864" cy="59436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7" name="Text 31"/>
          <p:cNvSpPr/>
          <p:nvPr/>
        </p:nvSpPr>
        <p:spPr>
          <a:xfrm>
            <a:off x="777240" y="56967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IN PROGRESS — RESEARCHING: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fine-tune Qwen3-ASR-1.7B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multi-dialect Bangla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/  PHASE 2 — BASELINE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Bangla ASR models on dialect speech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open Bangla / multilingual ASR models tested on our 4.7-hour multi-dialect corpus.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 ·  LOWER IS BETTER</a:t>
            </a:r>
            <a:endParaRPr lang="en-US" sz="9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2057400"/>
          <a:ext cx="70408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818120" y="1783080"/>
            <a:ext cx="3840480" cy="25146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10" name="Shape 7"/>
          <p:cNvSpPr/>
          <p:nvPr/>
        </p:nvSpPr>
        <p:spPr>
          <a:xfrm>
            <a:off x="7818120" y="1783080"/>
            <a:ext cx="38404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BASELINE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BengaliAI Regional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2697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29077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46.9%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046720" y="3456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better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253728" y="2697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253728" y="29077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24.3%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253728" y="3456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better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460736" y="2697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460736" y="29077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460736" y="3456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better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0" y="3794760"/>
            <a:ext cx="3383280" cy="1371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0" y="3886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the smaller, Bangla-specialized models — our reference point for everything that follows.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818120" y="4389120"/>
            <a:ext cx="3840480" cy="19202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5" name="Shape 22"/>
          <p:cNvSpPr/>
          <p:nvPr/>
        </p:nvSpPr>
        <p:spPr>
          <a:xfrm>
            <a:off x="7818120" y="4389120"/>
            <a:ext cx="54864" cy="1920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544568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12480" y="45628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046720" y="489204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baseline gets nearly half the words wrong.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dialect ASR is essentially unsolved. Models trained on news and audiobooks collapse on real, code-mixed clinical speech — Whisper Small reaches 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195% WER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(more substitutions and insertions than original words).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/  PHASE 3 — BIGGER MODELS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bigger 2B–7B audio LLMs do better?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corpus, six large multimodal audio LLMs (1.7B–7B params). The result was a surprise.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%  ·  BEST SMALL MODEL  vs  BIGGER MULTIMODAL LLMS</a:t>
            </a:r>
            <a:endParaRPr lang="en-US" sz="9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2057400"/>
          <a:ext cx="7040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4132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  ·  failed to produce usable output: 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 Multimodal, Qwen2.5-Omni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18120" y="1783080"/>
            <a:ext cx="3840480" cy="45262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120" y="1783080"/>
            <a:ext cx="384048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9933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31352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046720" y="2423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isn't better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Bangla dialect speech.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8046720" y="3520440"/>
            <a:ext cx="914400" cy="2286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6" name="Text 12"/>
          <p:cNvSpPr/>
          <p:nvPr/>
        </p:nvSpPr>
        <p:spPr>
          <a:xfrm>
            <a:off x="8046720" y="36576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smaller models outperform 7B multimodal LLMs by </a:t>
            </a: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 WER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big general-purpose audio LLMs don't transfer to dialect Bangla — they over-translate, hallucinate, and mis-segment.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46720" y="5074920"/>
            <a:ext cx="3520440" cy="1097280"/>
          </a:xfrm>
          <a:prstGeom prst="rect">
            <a:avLst/>
          </a:prstGeom>
          <a:solidFill>
            <a:srgbClr val="081627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0" y="5074920"/>
            <a:ext cx="45720" cy="10972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5"/>
          <p:cNvSpPr/>
          <p:nvPr/>
        </p:nvSpPr>
        <p:spPr>
          <a:xfrm>
            <a:off x="8202168" y="5166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(PHASE 5)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202168" y="541324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AI chatbot outputs as the patient interface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prompt ChatGPT, DeepSeek, Qwen, Perplexity with patient scenarios and benchmark how each renders an EHR-style output to inform our pipeline's schema.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2920" y="632764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DATA:  </a:t>
            </a: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github.com/RRM006/cse499-project-temp-azk-2026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full notebooks, dataset log, and evaluation scripts available on the project repository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760720" y="292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&amp; project resources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Pre-Consultation System  ·  CSE499A  ·  NSU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research the project builds on, plus where to find our code and dataset.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486400" cy="9601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37360"/>
            <a:ext cx="54864" cy="9601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202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03911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88366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 · CODE</a:t>
            </a:r>
            <a:endParaRPr lang="en-US" sz="1000" dirty="0"/>
          </a:p>
        </p:txBody>
      </p:sp>
      <p:sp>
        <p:nvSpPr>
          <p:cNvPr id="12" name="Text 9">
            <a:hlinkClick r:id="rId4"/>
          </p:cNvPr>
          <p:cNvSpPr/>
          <p:nvPr/>
        </p:nvSpPr>
        <p:spPr>
          <a:xfrm>
            <a:off x="1463040" y="2103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github.com/RRM006/cse499-project-temp-azk-2026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63040" y="239572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· evaluation scripts · dataset_log · model comparison results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72200" y="1737360"/>
            <a:ext cx="5486400" cy="9601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37360"/>
            <a:ext cx="54864" cy="9601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82512" y="19202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203911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188366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GOOGLE DRIVE FOLDER</a:t>
            </a:r>
            <a:endParaRPr lang="en-US" sz="1000" dirty="0"/>
          </a:p>
        </p:txBody>
      </p:sp>
      <p:sp>
        <p:nvSpPr>
          <p:cNvPr id="19" name="Text 15">
            <a:hlinkClick r:id="rId6"/>
          </p:cNvPr>
          <p:cNvSpPr/>
          <p:nvPr/>
        </p:nvSpPr>
        <p:spPr>
          <a:xfrm>
            <a:off x="7132320" y="2103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drive.google.com/drive/folders/1CSJt9yyZX...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32320" y="239572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· cleaned segments · transcripts · 5 dialects · ~4.7 hrs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2880360"/>
            <a:ext cx="37033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2880360"/>
            <a:ext cx="3703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19"/>
          <p:cNvSpPr/>
          <p:nvPr/>
        </p:nvSpPr>
        <p:spPr>
          <a:xfrm>
            <a:off x="731520" y="3081528"/>
            <a:ext cx="502920" cy="50292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3182112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FOUNDATIONS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31520" y="3721608"/>
            <a:ext cx="32461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— robust large-scale speech recognition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3152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al., OpenAI · 2023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arxiv.org/abs/2212.04356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731520" y="4462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 — speech for 1000+ languages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31520" y="4736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et al., Meta AI · 2023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arxiv.org/abs/2305.13516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731520" y="50840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 — self-supervised speech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731520" y="53583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Baevski et al., Meta · 2020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arxiv.org/abs/2006.11477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731520" y="5705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Qwen2-Audio · Qwen3-ASR (audio LLMs)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731520" y="5980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et al., Alibaba · 2024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arxiv.org/abs/2407.10759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4274820" y="2880360"/>
            <a:ext cx="37033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274820" y="2880360"/>
            <a:ext cx="3703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2"/>
          <p:cNvSpPr/>
          <p:nvPr/>
        </p:nvSpPr>
        <p:spPr>
          <a:xfrm>
            <a:off x="4503420" y="3081528"/>
            <a:ext cx="502920" cy="50292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004" y="3182112"/>
            <a:ext cx="301752" cy="30175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143500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SPEECH RESOURCES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503420" y="3721608"/>
            <a:ext cx="32461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5"/>
          <p:cNvSpPr/>
          <p:nvPr/>
        </p:nvSpPr>
        <p:spPr>
          <a:xfrm>
            <a:off x="450342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OOD-Speech — Bangla OOD ASR dataset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50342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 et al., Interspeech · 2023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arxiv.org/abs/2305.09688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4503420" y="4462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AI Speech Recognition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503420" y="4736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Bengali.AI · Kaggle · 2023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huggingface.co/bengaliai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4503420" y="50840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Common Voice (crowdsourced)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4503420" y="53583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Foundation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commonvoice.mozilla.org/bn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4503420" y="5705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IndicWav2Vec / Vakyansh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4503420" y="5980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github.com/AI4Bharat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8046720" y="2880360"/>
            <a:ext cx="37033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8046720" y="2880360"/>
            <a:ext cx="3703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Shape 45"/>
          <p:cNvSpPr/>
          <p:nvPr/>
        </p:nvSpPr>
        <p:spPr>
          <a:xfrm>
            <a:off x="8275320" y="3081528"/>
            <a:ext cx="502920" cy="50292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904" y="3182112"/>
            <a:ext cx="301752" cy="301752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8915400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NLP / AI SCRIBES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275320" y="3721608"/>
            <a:ext cx="32461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48"/>
          <p:cNvSpPr/>
          <p:nvPr/>
        </p:nvSpPr>
        <p:spPr>
          <a:xfrm>
            <a:off x="827532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BanglaBERT — Bangla LM benchmarks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827532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Bhattacharjee et al., NAACL · 2022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github.com/csebuetnlp/banglabert</a:t>
            </a:r>
            <a:endParaRPr lang="en-US" sz="850" dirty="0"/>
          </a:p>
        </p:txBody>
      </p:sp>
      <p:sp>
        <p:nvSpPr>
          <p:cNvPr id="57" name="Text 50"/>
          <p:cNvSpPr/>
          <p:nvPr/>
        </p:nvSpPr>
        <p:spPr>
          <a:xfrm>
            <a:off x="8275320" y="4462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— biomedical language model</a:t>
            </a:r>
            <a:endParaRPr lang="en-US" sz="1000" dirty="0"/>
          </a:p>
        </p:txBody>
      </p:sp>
      <p:sp>
        <p:nvSpPr>
          <p:cNvPr id="58" name="Text 51"/>
          <p:cNvSpPr/>
          <p:nvPr/>
        </p:nvSpPr>
        <p:spPr>
          <a:xfrm>
            <a:off x="8275320" y="4736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al., Bioinformatics · 2020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arxiv.org/abs/1901.08746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8275320" y="50840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ClinicalBERT — clinical-note embeddings</a:t>
            </a:r>
            <a:endParaRPr lang="en-US" sz="1000" dirty="0"/>
          </a:p>
        </p:txBody>
      </p:sp>
      <p:sp>
        <p:nvSpPr>
          <p:cNvPr id="60" name="Text 53"/>
          <p:cNvSpPr/>
          <p:nvPr/>
        </p:nvSpPr>
        <p:spPr>
          <a:xfrm>
            <a:off x="8275320" y="53583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Alsentzer et al. · 2019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arxiv.org/abs/1904.03323</a:t>
            </a:r>
            <a:endParaRPr lang="en-US" sz="850" dirty="0"/>
          </a:p>
        </p:txBody>
      </p:sp>
      <p:sp>
        <p:nvSpPr>
          <p:cNvPr id="61" name="Text 54"/>
          <p:cNvSpPr/>
          <p:nvPr/>
        </p:nvSpPr>
        <p:spPr>
          <a:xfrm>
            <a:off x="8275320" y="5705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scribes (adjacent products)</a:t>
            </a:r>
            <a:endParaRPr lang="en-US" sz="1000" dirty="0"/>
          </a:p>
        </p:txBody>
      </p:sp>
      <p:sp>
        <p:nvSpPr>
          <p:cNvPr id="62" name="Text 55"/>
          <p:cNvSpPr/>
          <p:nvPr/>
        </p:nvSpPr>
        <p:spPr>
          <a:xfrm>
            <a:off x="8275320" y="5980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DAX · DeepScribe · Abridge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(commercial · for context)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1726</Words>
  <Application>Microsoft Office PowerPoint</Application>
  <PresentationFormat>Widescreen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North South University - CSE499A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EHR-Based Pre-Consultation Medical Documentation System</dc:title>
  <dc:subject>PptxGenJS Presentation</dc:subject>
  <dc:creator>Rafiur Rahman Mashrafi, M.G. Rabbi Hossen, Israt Zaman Srity</dc:creator>
  <cp:lastModifiedBy>User</cp:lastModifiedBy>
  <cp:revision>2</cp:revision>
  <dcterms:created xsi:type="dcterms:W3CDTF">2026-04-26T08:03:19Z</dcterms:created>
  <dcterms:modified xsi:type="dcterms:W3CDTF">2026-04-26T14:16:06Z</dcterms:modified>
</cp:coreProperties>
</file>